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Je vais vous présenter MarketCraft, une marketplace dédiée à l'artisanat, développée dans le cadre du titre Concepteur Développeur d'Applications. En trente minutes : le problème de départ, la conception, les choix techniques, le module d'intelligence artificielle, puis une démonstration en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Huit sections. J'insiste dès maintenant sur la cinquième : le module d'IA, qui est la valeur ajoutée réelle demandée par le cahier des charges.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L'artisanat séduit de plus en plus d'acheteurs, mais les créateurs restent mal servis par les grandes plateformes : visibilité noyée, outils inadaptés, et un enjeu de confiance pour l'acheteur d'une pièce à 80 euros. MarketCraft organise la plateforme autour de trois rôles — acheteur, artisan-vendeur, administrateur. Ma problématique tient en une phrase, que vous voyez à droite.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fonctionnel, une marketplace complète à trois rôles, avec des avis vérifiés. Côté IA, la recommandation personnalisée, le module imposé. Côté technique, une seule API Laravel avec Eloquent, servant à l'identique le site et le mobile, l'intégrité garantie jusqu'en base, et une démarche qualité avec tests et intégration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cas d'utilisation synthétise le fonctionnel autour de trois acteurs. L'acheteur s'inscrit, parcourt et filtre le catalogue, commande, suit ses commandes et peut laisser un avis. Le vendeur gère sa boutique, ses produits, ses commandes et ses statistiques. L'administrateur supervise la plateforme. Deux relations sont à souligner : la plupart des cas incluent l'authentification, et « laisser un avis » étend le suivi de commande — il n'est possible que depuis une commande livrée, ce qui traduit la règle de l'avis vérifié. Chaque cas d'usage correspond aujourd'hui à des routes d'API et à des écrans identifiables.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coder, j'ai maquetté les écrans principaux sous Figma — quatorze au total, sur desktop et mobile. Elles ont fixé l'identité visuelle, une palette chaleureuse tons terre et vert olive en cohérence avec l'univers artisanal, et surtout les parcours : la découverte des produits, l'ajout au panier, et le back-office pensé pour des non-techniciens. Ces maquettes ont servi de contrat visuel pendant tout le développement — vous retrouverez cette fidélité dans la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première version était un MVC PHP écrit à la main, pour maîtriser chaque mécanisme. Je l'ai reconstruite sous Laravel 11 avec Eloquent — d'une part pour me conformer au cahier des charges, qui exige un ORM ; d'autre part pour la robustesse : migrations versionnées, validation centralisée, sécurité éprouvée. Une seule API REST, documentée en OpenAPI et exposée via Swagger, alimente à l'identique le site React et l'application mobile. La logique critique reste garantie au niveau de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module imposé est la recommandation personnalisée. Elle s'appuie sur trois contextes — la fiche consultée, le panier, l'historique — donc les suggestions changent selon la situation, comme l'exige le cahier des charges. L'algorithme est documenté : le modèle propose à partir du contexte, et en cas d'indisponibilité, un repli par similarité de catégorie et de gamme de prix prend le relais — approche que le CDC accepte explicitement. Un badge indique honnêtement l'origine de la suggestion. En bonus, une analyse concurrentielle pour le vendeur, avec un principe fort : tous les chiffres sont calculés par le serveur, l'IA se limite au commentaire.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fort du projet : une partie des règles de gestion vit directement dans la base. Quatre triggers recalculent les notes automatiquement à chaque avis ; une fonction stockée vérifie le stock ; et une procédure, déclenchée chaque nuit par un event, libère les paiements des commandes livrées depuis plus de quatorze jours sans litige — une protection de l'acheteur entièrement automatisée. Les diagrammes MCD, MPD et de classes complets sont dans le dossier de conception.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qualité s'appuie sur des tests à plusieurs niveaux : près de 94 côté API, plus le web, le mobile, et des scénarios SQL, le tout en intégration continue. Ces tests ont réellement servi — ils ont révélé des désalignements front/API et des bugs concrets, corrigés. Sur la sécurité, je couvre le Top 10 OWASP : contrôle de rôle systématique, bcrypt, requêtes préparées via l'ORM. Contre le brute-force : verrouillage après cinq échecs et un CAPTCHA dès le troisième. Et un journal d'activité consultable dans le back-office, comme l'exige le cahier des charges.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temps, avec deux comptes. Je commence par l'inscription d'un acheteur, puis je passe une commande — un produit épuisé ne peut pas être ajouté. Je télécharge la facture PDF. Côté artisan, la commande arrive sur le dashboard, je la fais avancer, le chiffre d'affaires s'actualise. Et je termine sur l'application mobile, qui consomme la même API. En cas de pépin technique, je bascule sur les captures de secours.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 plan produit, une marketplace complète et testée, avec son module d'IA, son back-office et une application mobile fonctionnelle. Sur l'organisation, le suivi Git et la gestion des risques. La principale difficulté — et le principal apprentissage — a été la reconstruction du back sous Laravel et le portage mobile ; les tests ont révélé des désalignements que je n'aurais pas vus autrement. Pour la suite : un vrai prestataire de paiement, la messagerie, les notifications, et le déploiement. Merci,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211C"/>
        </a:solidFill>
      </p:bgPr>
    </p:bg>
    <p:spTree>
      <p:nvGrpSpPr>
        <p:cNvPr id="1" name=""/>
        <p:cNvGrpSpPr/>
        <p:nvPr/>
      </p:nvGrpSpPr>
      <p:grpSpPr>
        <a:xfrm>
          <a:off x="0" y="0"/>
          <a:ext cx="0" cy="0"/>
          <a:chOff x="0" y="0"/>
          <a:chExt cx="0" cy="0"/>
        </a:xfrm>
      </p:grpSpPr>
      <p:sp>
        <p:nvSpPr>
          <p:cNvPr id="2" name="Shape 0"/>
          <p:cNvSpPr/>
          <p:nvPr/>
        </p:nvSpPr>
        <p:spPr>
          <a:xfrm>
            <a:off x="5541264" y="1234440"/>
            <a:ext cx="1097280" cy="1097280"/>
          </a:xfrm>
          <a:prstGeom prst="roundRect">
            <a:avLst>
              <a:gd name="adj" fmla="val 23333"/>
            </a:avLst>
          </a:prstGeom>
          <a:solidFill>
            <a:srgbClr val="8B4513"/>
          </a:solidFill>
          <a:ln/>
        </p:spPr>
      </p:sp>
      <p:sp>
        <p:nvSpPr>
          <p:cNvPr id="3" name="Text 1"/>
          <p:cNvSpPr/>
          <p:nvPr/>
        </p:nvSpPr>
        <p:spPr>
          <a:xfrm>
            <a:off x="5541264" y="1234440"/>
            <a:ext cx="1097280" cy="10972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MC</a:t>
            </a:r>
            <a:endParaRPr lang="en-US" sz="3400" dirty="0"/>
          </a:p>
        </p:txBody>
      </p:sp>
      <p:sp>
        <p:nvSpPr>
          <p:cNvPr id="4" name="Text 2"/>
          <p:cNvSpPr/>
          <p:nvPr/>
        </p:nvSpPr>
        <p:spPr>
          <a:xfrm>
            <a:off x="914400" y="2514600"/>
            <a:ext cx="10360152" cy="100584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MarketCraft</a:t>
            </a:r>
            <a:endParaRPr lang="en-US" sz="6000" dirty="0"/>
          </a:p>
        </p:txBody>
      </p:sp>
      <p:sp>
        <p:nvSpPr>
          <p:cNvPr id="5" name="Text 3"/>
          <p:cNvSpPr/>
          <p:nvPr/>
        </p:nvSpPr>
        <p:spPr>
          <a:xfrm>
            <a:off x="914400" y="3611880"/>
            <a:ext cx="10360152" cy="457200"/>
          </a:xfrm>
          <a:prstGeom prst="rect">
            <a:avLst/>
          </a:prstGeom>
          <a:noFill/>
          <a:ln/>
        </p:spPr>
        <p:txBody>
          <a:bodyPr wrap="square" lIns="0" tIns="0" rIns="0" bIns="0" rtlCol="0" anchor="ctr"/>
          <a:lstStyle/>
          <a:p>
            <a:pPr algn="ctr" indent="0" marL="0">
              <a:buNone/>
            </a:pPr>
            <a:r>
              <a:rPr lang="en-US" sz="2000" dirty="0">
                <a:solidFill>
                  <a:srgbClr val="EFE7DB"/>
                </a:solidFill>
                <a:latin typeface="Calibri" pitchFamily="34" charset="0"/>
                <a:ea typeface="Calibri" pitchFamily="34" charset="-122"/>
                <a:cs typeface="Calibri" pitchFamily="34" charset="-120"/>
              </a:rPr>
              <a:t>Conception et développement d’une marketplace artisanale</a:t>
            </a:r>
            <a:endParaRPr lang="en-US" sz="2000" dirty="0"/>
          </a:p>
        </p:txBody>
      </p:sp>
      <p:sp>
        <p:nvSpPr>
          <p:cNvPr id="6" name="Text 4"/>
          <p:cNvSpPr/>
          <p:nvPr/>
        </p:nvSpPr>
        <p:spPr>
          <a:xfrm>
            <a:off x="914400" y="4297680"/>
            <a:ext cx="10360152" cy="365760"/>
          </a:xfrm>
          <a:prstGeom prst="rect">
            <a:avLst/>
          </a:prstGeom>
          <a:noFill/>
          <a:ln/>
        </p:spPr>
        <p:txBody>
          <a:bodyPr wrap="square" lIns="0" tIns="0" rIns="0" bIns="0" rtlCol="0" anchor="ctr"/>
          <a:lstStyle/>
          <a:p>
            <a:pPr algn="ctr" indent="0" marL="0">
              <a:buNone/>
            </a:pPr>
            <a:r>
              <a:rPr lang="en-US" sz="1500" dirty="0">
                <a:solidFill>
                  <a:srgbClr val="B8A894"/>
                </a:solidFill>
                <a:latin typeface="Calibri" pitchFamily="34" charset="0"/>
                <a:ea typeface="Calibri" pitchFamily="34" charset="-122"/>
                <a:cs typeface="Calibri" pitchFamily="34" charset="-120"/>
              </a:rPr>
              <a:t>Soutenance de projet  ·  30 minutes  ·  Master 1 CDA</a:t>
            </a:r>
            <a:endParaRPr lang="en-US" sz="1500" dirty="0"/>
          </a:p>
        </p:txBody>
      </p:sp>
      <p:sp>
        <p:nvSpPr>
          <p:cNvPr id="7" name="Text 5"/>
          <p:cNvSpPr/>
          <p:nvPr/>
        </p:nvSpPr>
        <p:spPr>
          <a:xfrm>
            <a:off x="914400" y="4709160"/>
            <a:ext cx="10360152" cy="365760"/>
          </a:xfrm>
          <a:prstGeom prst="rect">
            <a:avLst/>
          </a:prstGeom>
          <a:noFill/>
          <a:ln/>
        </p:spPr>
        <p:txBody>
          <a:bodyPr wrap="square" lIns="0" tIns="0" rIns="0" bIns="0" rtlCol="0" anchor="ctr"/>
          <a:lstStyle/>
          <a:p>
            <a:pPr algn="ctr" indent="0" marL="0">
              <a:buNone/>
            </a:pPr>
            <a:r>
              <a:rPr lang="en-US" sz="1500" i="1" dirty="0">
                <a:solidFill>
                  <a:srgbClr val="6B7C3F"/>
                </a:solidFill>
                <a:latin typeface="Calibri" pitchFamily="34" charset="0"/>
                <a:ea typeface="Calibri" pitchFamily="34" charset="-122"/>
                <a:cs typeface="Calibri" pitchFamily="34" charset="-120"/>
              </a:rPr>
              <a:t>Antoine Brigouleix</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algn="l" indent="0" marL="0">
              <a:buNone/>
            </a:pPr>
            <a:r>
              <a:rPr lang="en-US" sz="3200" b="1" dirty="0">
                <a:solidFill>
                  <a:srgbClr val="8B4513"/>
                </a:solidFill>
                <a:latin typeface="Cambria" pitchFamily="34" charset="0"/>
                <a:ea typeface="Cambria" pitchFamily="34" charset="-122"/>
                <a:cs typeface="Cambria" pitchFamily="34" charset="-120"/>
              </a:rPr>
              <a:t>Sommaire</a:t>
            </a:r>
            <a:endParaRPr lang="en-US" sz="3200" dirty="0"/>
          </a:p>
        </p:txBody>
      </p:sp>
      <p:sp>
        <p:nvSpPr>
          <p:cNvPr id="3" name="Shape 1"/>
          <p:cNvSpPr/>
          <p:nvPr/>
        </p:nvSpPr>
        <p:spPr>
          <a:xfrm>
            <a:off x="822960" y="1554480"/>
            <a:ext cx="457200" cy="457200"/>
          </a:xfrm>
          <a:prstGeom prst="ellipse">
            <a:avLst/>
          </a:prstGeom>
          <a:solidFill>
            <a:srgbClr val="8B4513"/>
          </a:solidFill>
          <a:ln/>
        </p:spPr>
      </p:sp>
      <p:sp>
        <p:nvSpPr>
          <p:cNvPr id="4" name="Text 2"/>
          <p:cNvSpPr/>
          <p:nvPr/>
        </p:nvSpPr>
        <p:spPr>
          <a:xfrm>
            <a:off x="822960" y="1554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p:nvPr/>
        </p:nvSpPr>
        <p:spPr>
          <a:xfrm>
            <a:off x="1508760" y="1527048"/>
            <a:ext cx="4754880" cy="548640"/>
          </a:xfrm>
          <a:prstGeom prst="rect">
            <a:avLst/>
          </a:prstGeom>
          <a:noFill/>
          <a:ln/>
        </p:spPr>
        <p:txBody>
          <a:bodyPr wrap="square" lIns="0" tIns="0" rIns="0" bIns="0" rtlCol="0" anchor="ctr"/>
          <a:lstStyle/>
          <a:p>
            <a:pPr indent="0" marL="0">
              <a:buNone/>
            </a:pPr>
            <a:r>
              <a:rPr lang="en-US" sz="1500" dirty="0">
                <a:solidFill>
                  <a:srgbClr val="262320"/>
                </a:solidFill>
                <a:latin typeface="Calibri" pitchFamily="34" charset="0"/>
                <a:ea typeface="Calibri" pitchFamily="34" charset="-122"/>
                <a:cs typeface="Calibri" pitchFamily="34" charset="-120"/>
              </a:rPr>
              <a:t>Contexte &amp; problématique</a:t>
            </a:r>
            <a:endParaRPr lang="en-US" sz="1500" dirty="0"/>
          </a:p>
        </p:txBody>
      </p:sp>
      <p:sp>
        <p:nvSpPr>
          <p:cNvPr id="6" name="Shape 4"/>
          <p:cNvSpPr/>
          <p:nvPr/>
        </p:nvSpPr>
        <p:spPr>
          <a:xfrm>
            <a:off x="822960" y="2606040"/>
            <a:ext cx="457200" cy="457200"/>
          </a:xfrm>
          <a:prstGeom prst="ellipse">
            <a:avLst/>
          </a:prstGeom>
          <a:solidFill>
            <a:srgbClr val="8B4513"/>
          </a:solidFill>
          <a:ln/>
        </p:spPr>
      </p:sp>
      <p:sp>
        <p:nvSpPr>
          <p:cNvPr id="7" name="Text 5"/>
          <p:cNvSpPr/>
          <p:nvPr/>
        </p:nvSpPr>
        <p:spPr>
          <a:xfrm>
            <a:off x="822960" y="2606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8" name="Text 6"/>
          <p:cNvSpPr/>
          <p:nvPr/>
        </p:nvSpPr>
        <p:spPr>
          <a:xfrm>
            <a:off x="1508760" y="2578608"/>
            <a:ext cx="4754880" cy="548640"/>
          </a:xfrm>
          <a:prstGeom prst="rect">
            <a:avLst/>
          </a:prstGeom>
          <a:noFill/>
          <a:ln/>
        </p:spPr>
        <p:txBody>
          <a:bodyPr wrap="square" lIns="0" tIns="0" rIns="0" bIns="0" rtlCol="0" anchor="ctr"/>
          <a:lstStyle/>
          <a:p>
            <a:pPr indent="0" marL="0">
              <a:buNone/>
            </a:pPr>
            <a:r>
              <a:rPr lang="en-US" sz="1500" dirty="0">
                <a:solidFill>
                  <a:srgbClr val="262320"/>
                </a:solidFill>
                <a:latin typeface="Calibri" pitchFamily="34" charset="0"/>
                <a:ea typeface="Calibri" pitchFamily="34" charset="-122"/>
                <a:cs typeface="Calibri" pitchFamily="34" charset="-120"/>
              </a:rPr>
              <a:t>Objectifs fonctionnels et techniques</a:t>
            </a:r>
            <a:endParaRPr lang="en-US" sz="1500" dirty="0"/>
          </a:p>
        </p:txBody>
      </p:sp>
      <p:sp>
        <p:nvSpPr>
          <p:cNvPr id="9" name="Shape 7"/>
          <p:cNvSpPr/>
          <p:nvPr/>
        </p:nvSpPr>
        <p:spPr>
          <a:xfrm>
            <a:off x="822960" y="3657600"/>
            <a:ext cx="457200" cy="457200"/>
          </a:xfrm>
          <a:prstGeom prst="ellipse">
            <a:avLst/>
          </a:prstGeom>
          <a:solidFill>
            <a:srgbClr val="8B4513"/>
          </a:solidFill>
          <a:ln/>
        </p:spPr>
      </p:sp>
      <p:sp>
        <p:nvSpPr>
          <p:cNvPr id="10" name="Text 8"/>
          <p:cNvSpPr/>
          <p:nvPr/>
        </p:nvSpPr>
        <p:spPr>
          <a:xfrm>
            <a:off x="822960" y="3657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1" name="Text 9"/>
          <p:cNvSpPr/>
          <p:nvPr/>
        </p:nvSpPr>
        <p:spPr>
          <a:xfrm>
            <a:off x="1508760" y="3630168"/>
            <a:ext cx="4754880" cy="548640"/>
          </a:xfrm>
          <a:prstGeom prst="rect">
            <a:avLst/>
          </a:prstGeom>
          <a:noFill/>
          <a:ln/>
        </p:spPr>
        <p:txBody>
          <a:bodyPr wrap="square" lIns="0" tIns="0" rIns="0" bIns="0" rtlCol="0" anchor="ctr"/>
          <a:lstStyle/>
          <a:p>
            <a:pPr indent="0" marL="0">
              <a:buNone/>
            </a:pPr>
            <a:r>
              <a:rPr lang="en-US" sz="1500" dirty="0">
                <a:solidFill>
                  <a:srgbClr val="262320"/>
                </a:solidFill>
                <a:latin typeface="Calibri" pitchFamily="34" charset="0"/>
                <a:ea typeface="Calibri" pitchFamily="34" charset="-122"/>
                <a:cs typeface="Calibri" pitchFamily="34" charset="-120"/>
              </a:rPr>
              <a:t>Conception : besoins et données</a:t>
            </a:r>
            <a:endParaRPr lang="en-US" sz="1500" dirty="0"/>
          </a:p>
        </p:txBody>
      </p:sp>
      <p:sp>
        <p:nvSpPr>
          <p:cNvPr id="12" name="Shape 10"/>
          <p:cNvSpPr/>
          <p:nvPr/>
        </p:nvSpPr>
        <p:spPr>
          <a:xfrm>
            <a:off x="822960" y="4709160"/>
            <a:ext cx="457200" cy="457200"/>
          </a:xfrm>
          <a:prstGeom prst="ellipse">
            <a:avLst/>
          </a:prstGeom>
          <a:solidFill>
            <a:srgbClr val="8B4513"/>
          </a:solidFill>
          <a:ln/>
        </p:spPr>
      </p:sp>
      <p:sp>
        <p:nvSpPr>
          <p:cNvPr id="13" name="Text 11"/>
          <p:cNvSpPr/>
          <p:nvPr/>
        </p:nvSpPr>
        <p:spPr>
          <a:xfrm>
            <a:off x="822960" y="4709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4" name="Text 12"/>
          <p:cNvSpPr/>
          <p:nvPr/>
        </p:nvSpPr>
        <p:spPr>
          <a:xfrm>
            <a:off x="1508760" y="4681728"/>
            <a:ext cx="4754880" cy="548640"/>
          </a:xfrm>
          <a:prstGeom prst="rect">
            <a:avLst/>
          </a:prstGeom>
          <a:noFill/>
          <a:ln/>
        </p:spPr>
        <p:txBody>
          <a:bodyPr wrap="square" lIns="0" tIns="0" rIns="0" bIns="0" rtlCol="0" anchor="ctr"/>
          <a:lstStyle/>
          <a:p>
            <a:pPr indent="0" marL="0">
              <a:buNone/>
            </a:pPr>
            <a:r>
              <a:rPr lang="en-US" sz="1500" dirty="0">
                <a:solidFill>
                  <a:srgbClr val="262320"/>
                </a:solidFill>
                <a:latin typeface="Calibri" pitchFamily="34" charset="0"/>
                <a:ea typeface="Calibri" pitchFamily="34" charset="-122"/>
                <a:cs typeface="Calibri" pitchFamily="34" charset="-120"/>
              </a:rPr>
              <a:t>Choix techniques &amp; architecture</a:t>
            </a:r>
            <a:endParaRPr lang="en-US" sz="1500" dirty="0"/>
          </a:p>
        </p:txBody>
      </p:sp>
      <p:sp>
        <p:nvSpPr>
          <p:cNvPr id="15" name="Shape 13"/>
          <p:cNvSpPr/>
          <p:nvPr/>
        </p:nvSpPr>
        <p:spPr>
          <a:xfrm>
            <a:off x="6492240" y="1554480"/>
            <a:ext cx="457200" cy="457200"/>
          </a:xfrm>
          <a:prstGeom prst="ellipse">
            <a:avLst/>
          </a:prstGeom>
          <a:solidFill>
            <a:srgbClr val="7E22CE"/>
          </a:solidFill>
          <a:ln/>
        </p:spPr>
      </p:sp>
      <p:sp>
        <p:nvSpPr>
          <p:cNvPr id="16" name="Text 14"/>
          <p:cNvSpPr/>
          <p:nvPr/>
        </p:nvSpPr>
        <p:spPr>
          <a:xfrm>
            <a:off x="6492240" y="1554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7" name="Text 15"/>
          <p:cNvSpPr/>
          <p:nvPr/>
        </p:nvSpPr>
        <p:spPr>
          <a:xfrm>
            <a:off x="7178040" y="1527048"/>
            <a:ext cx="4754880" cy="548640"/>
          </a:xfrm>
          <a:prstGeom prst="rect">
            <a:avLst/>
          </a:prstGeom>
          <a:noFill/>
          <a:ln/>
        </p:spPr>
        <p:txBody>
          <a:bodyPr wrap="square" lIns="0" tIns="0" rIns="0" bIns="0" rtlCol="0" anchor="ctr"/>
          <a:lstStyle/>
          <a:p>
            <a:pPr indent="0" marL="0">
              <a:buNone/>
            </a:pPr>
            <a:r>
              <a:rPr lang="en-US" sz="1600" b="1" dirty="0">
                <a:solidFill>
                  <a:srgbClr val="7E22CE"/>
                </a:solidFill>
                <a:latin typeface="Calibri" pitchFamily="34" charset="0"/>
                <a:ea typeface="Calibri" pitchFamily="34" charset="-122"/>
                <a:cs typeface="Calibri" pitchFamily="34" charset="-120"/>
              </a:rPr>
              <a:t>Module IA — recommandation personnalisée</a:t>
            </a:r>
            <a:endParaRPr lang="en-US" sz="1600" dirty="0"/>
          </a:p>
        </p:txBody>
      </p:sp>
      <p:sp>
        <p:nvSpPr>
          <p:cNvPr id="18" name="Shape 16"/>
          <p:cNvSpPr/>
          <p:nvPr/>
        </p:nvSpPr>
        <p:spPr>
          <a:xfrm>
            <a:off x="6492240" y="2606040"/>
            <a:ext cx="457200" cy="457200"/>
          </a:xfrm>
          <a:prstGeom prst="ellipse">
            <a:avLst/>
          </a:prstGeom>
          <a:solidFill>
            <a:srgbClr val="8B4513"/>
          </a:solidFill>
          <a:ln/>
        </p:spPr>
      </p:sp>
      <p:sp>
        <p:nvSpPr>
          <p:cNvPr id="19" name="Text 17"/>
          <p:cNvSpPr/>
          <p:nvPr/>
        </p:nvSpPr>
        <p:spPr>
          <a:xfrm>
            <a:off x="6492240" y="2606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0" name="Text 18"/>
          <p:cNvSpPr/>
          <p:nvPr/>
        </p:nvSpPr>
        <p:spPr>
          <a:xfrm>
            <a:off x="7178040" y="2578608"/>
            <a:ext cx="4754880" cy="548640"/>
          </a:xfrm>
          <a:prstGeom prst="rect">
            <a:avLst/>
          </a:prstGeom>
          <a:noFill/>
          <a:ln/>
        </p:spPr>
        <p:txBody>
          <a:bodyPr wrap="square" lIns="0" tIns="0" rIns="0" bIns="0" rtlCol="0" anchor="ctr"/>
          <a:lstStyle/>
          <a:p>
            <a:pPr indent="0" marL="0">
              <a:buNone/>
            </a:pPr>
            <a:r>
              <a:rPr lang="en-US" sz="1500" dirty="0">
                <a:solidFill>
                  <a:srgbClr val="262320"/>
                </a:solidFill>
                <a:latin typeface="Calibri" pitchFamily="34" charset="0"/>
                <a:ea typeface="Calibri" pitchFamily="34" charset="-122"/>
                <a:cs typeface="Calibri" pitchFamily="34" charset="-120"/>
              </a:rPr>
              <a:t>Tests &amp; sécurité</a:t>
            </a:r>
            <a:endParaRPr lang="en-US" sz="1500" dirty="0"/>
          </a:p>
        </p:txBody>
      </p:sp>
      <p:sp>
        <p:nvSpPr>
          <p:cNvPr id="21" name="Shape 19"/>
          <p:cNvSpPr/>
          <p:nvPr/>
        </p:nvSpPr>
        <p:spPr>
          <a:xfrm>
            <a:off x="6492240" y="3657600"/>
            <a:ext cx="457200" cy="457200"/>
          </a:xfrm>
          <a:prstGeom prst="ellipse">
            <a:avLst/>
          </a:prstGeom>
          <a:solidFill>
            <a:srgbClr val="8B4513"/>
          </a:solidFill>
          <a:ln/>
        </p:spPr>
      </p:sp>
      <p:sp>
        <p:nvSpPr>
          <p:cNvPr id="22" name="Text 20"/>
          <p:cNvSpPr/>
          <p:nvPr/>
        </p:nvSpPr>
        <p:spPr>
          <a:xfrm>
            <a:off x="6492240" y="3657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23" name="Text 21"/>
          <p:cNvSpPr/>
          <p:nvPr/>
        </p:nvSpPr>
        <p:spPr>
          <a:xfrm>
            <a:off x="7178040" y="3630168"/>
            <a:ext cx="4754880" cy="548640"/>
          </a:xfrm>
          <a:prstGeom prst="rect">
            <a:avLst/>
          </a:prstGeom>
          <a:noFill/>
          <a:ln/>
        </p:spPr>
        <p:txBody>
          <a:bodyPr wrap="square" lIns="0" tIns="0" rIns="0" bIns="0" rtlCol="0" anchor="ctr"/>
          <a:lstStyle/>
          <a:p>
            <a:pPr indent="0" marL="0">
              <a:buNone/>
            </a:pPr>
            <a:r>
              <a:rPr lang="en-US" sz="1500" dirty="0">
                <a:solidFill>
                  <a:srgbClr val="262320"/>
                </a:solidFill>
                <a:latin typeface="Calibri" pitchFamily="34" charset="0"/>
                <a:ea typeface="Calibri" pitchFamily="34" charset="-122"/>
                <a:cs typeface="Calibri" pitchFamily="34" charset="-120"/>
              </a:rPr>
              <a:t>Démonstration</a:t>
            </a:r>
            <a:endParaRPr lang="en-US" sz="1500" dirty="0"/>
          </a:p>
        </p:txBody>
      </p:sp>
      <p:sp>
        <p:nvSpPr>
          <p:cNvPr id="24" name="Shape 22"/>
          <p:cNvSpPr/>
          <p:nvPr/>
        </p:nvSpPr>
        <p:spPr>
          <a:xfrm>
            <a:off x="6492240" y="4709160"/>
            <a:ext cx="457200" cy="457200"/>
          </a:xfrm>
          <a:prstGeom prst="ellipse">
            <a:avLst/>
          </a:prstGeom>
          <a:solidFill>
            <a:srgbClr val="8B4513"/>
          </a:solidFill>
          <a:ln/>
        </p:spPr>
      </p:sp>
      <p:sp>
        <p:nvSpPr>
          <p:cNvPr id="25" name="Text 23"/>
          <p:cNvSpPr/>
          <p:nvPr/>
        </p:nvSpPr>
        <p:spPr>
          <a:xfrm>
            <a:off x="6492240" y="4709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26" name="Text 24"/>
          <p:cNvSpPr/>
          <p:nvPr/>
        </p:nvSpPr>
        <p:spPr>
          <a:xfrm>
            <a:off x="7178040" y="4681728"/>
            <a:ext cx="4754880" cy="548640"/>
          </a:xfrm>
          <a:prstGeom prst="rect">
            <a:avLst/>
          </a:prstGeom>
          <a:noFill/>
          <a:ln/>
        </p:spPr>
        <p:txBody>
          <a:bodyPr wrap="square" lIns="0" tIns="0" rIns="0" bIns="0" rtlCol="0" anchor="ctr"/>
          <a:lstStyle/>
          <a:p>
            <a:pPr indent="0" marL="0">
              <a:buNone/>
            </a:pPr>
            <a:r>
              <a:rPr lang="en-US" sz="1500" dirty="0">
                <a:solidFill>
                  <a:srgbClr val="262320"/>
                </a:solidFill>
                <a:latin typeface="Calibri" pitchFamily="34" charset="0"/>
                <a:ea typeface="Calibri" pitchFamily="34" charset="-122"/>
                <a:cs typeface="Calibri" pitchFamily="34" charset="-120"/>
              </a:rPr>
              <a:t>Bilan &amp; perspectives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algn="l" indent="0" marL="0">
              <a:buNone/>
            </a:pPr>
            <a:r>
              <a:rPr lang="en-US" sz="3200" b="1" dirty="0">
                <a:solidFill>
                  <a:srgbClr val="8B4513"/>
                </a:solidFill>
                <a:latin typeface="Cambria" pitchFamily="34" charset="0"/>
                <a:ea typeface="Cambria" pitchFamily="34" charset="-122"/>
                <a:cs typeface="Cambria" pitchFamily="34" charset="-120"/>
              </a:rPr>
              <a:t>Contexte &amp; problématique</a:t>
            </a:r>
            <a:endParaRPr lang="en-US" sz="3200" dirty="0"/>
          </a:p>
        </p:txBody>
      </p:sp>
      <p:sp>
        <p:nvSpPr>
          <p:cNvPr id="3" name="Text 1"/>
          <p:cNvSpPr/>
          <p:nvPr/>
        </p:nvSpPr>
        <p:spPr>
          <a:xfrm>
            <a:off x="640080" y="1417320"/>
            <a:ext cx="5486400" cy="365760"/>
          </a:xfrm>
          <a:prstGeom prst="rect">
            <a:avLst/>
          </a:prstGeom>
          <a:noFill/>
          <a:ln/>
        </p:spPr>
        <p:txBody>
          <a:bodyPr wrap="square" lIns="0" tIns="0" rIns="0" bIns="0" rtlCol="0" anchor="ctr"/>
          <a:lstStyle/>
          <a:p>
            <a:pPr indent="0" marL="0">
              <a:buNone/>
            </a:pPr>
            <a:r>
              <a:rPr lang="en-US" sz="2000" b="1" dirty="0">
                <a:solidFill>
                  <a:srgbClr val="8B4513"/>
                </a:solidFill>
                <a:latin typeface="Cambria" pitchFamily="34" charset="0"/>
                <a:ea typeface="Cambria" pitchFamily="34" charset="-122"/>
                <a:cs typeface="Cambria" pitchFamily="34" charset="-120"/>
              </a:rPr>
              <a:t>Le constat</a:t>
            </a:r>
            <a:endParaRPr lang="en-US" sz="2000" dirty="0"/>
          </a:p>
        </p:txBody>
      </p:sp>
      <p:sp>
        <p:nvSpPr>
          <p:cNvPr id="4" name="Text 2"/>
          <p:cNvSpPr/>
          <p:nvPr/>
        </p:nvSpPr>
        <p:spPr>
          <a:xfrm>
            <a:off x="640080" y="1874520"/>
            <a:ext cx="5394960" cy="310896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262320"/>
                </a:solidFill>
                <a:latin typeface="Calibri" pitchFamily="34" charset="0"/>
                <a:ea typeface="Calibri" pitchFamily="34" charset="-122"/>
                <a:cs typeface="Calibri" pitchFamily="34" charset="-120"/>
              </a:rPr>
              <a:t>Les artisans sont mal servis par les marketplaces généralistes : leurs créations sont noyées parmi les produits industriels.</a:t>
            </a:r>
            <a:endParaRPr lang="en-US" sz="1500" dirty="0"/>
          </a:p>
          <a:p>
            <a:pPr marL="177800" indent="-177800">
              <a:spcAft>
                <a:spcPts val="1200"/>
              </a:spcAft>
              <a:buSzPct val="100000"/>
              <a:buChar char="•"/>
            </a:pPr>
            <a:r>
              <a:rPr lang="en-US" sz="1500" dirty="0">
                <a:solidFill>
                  <a:srgbClr val="262320"/>
                </a:solidFill>
                <a:latin typeface="Calibri" pitchFamily="34" charset="0"/>
                <a:ea typeface="Calibri" pitchFamily="34" charset="-122"/>
                <a:cs typeface="Calibri" pitchFamily="34" charset="-120"/>
              </a:rPr>
              <a:t>Peu d’outils simples pour gérer une boutique de pièces uniques.</a:t>
            </a:r>
            <a:endParaRPr lang="en-US" sz="1500" dirty="0"/>
          </a:p>
          <a:p>
            <a:pPr marL="177800" indent="-177800">
              <a:spcAft>
                <a:spcPts val="1200"/>
              </a:spcAft>
              <a:buSzPct val="100000"/>
              <a:buChar char="•"/>
            </a:pPr>
            <a:r>
              <a:rPr lang="en-US" sz="1500" dirty="0">
                <a:solidFill>
                  <a:srgbClr val="262320"/>
                </a:solidFill>
                <a:latin typeface="Calibri" pitchFamily="34" charset="0"/>
                <a:ea typeface="Calibri" pitchFamily="34" charset="-122"/>
                <a:cs typeface="Calibri" pitchFamily="34" charset="-120"/>
              </a:rPr>
              <a:t>Côté acheteurs, une demande croissante d’authenticité — mais un besoin de confiance (avis, sécurité).</a:t>
            </a:r>
            <a:endParaRPr lang="en-US" sz="1500" dirty="0"/>
          </a:p>
        </p:txBody>
      </p:sp>
      <p:sp>
        <p:nvSpPr>
          <p:cNvPr id="5" name="Shape 3"/>
          <p:cNvSpPr/>
          <p:nvPr/>
        </p:nvSpPr>
        <p:spPr>
          <a:xfrm>
            <a:off x="6400800" y="1463040"/>
            <a:ext cx="5029200" cy="3931920"/>
          </a:xfrm>
          <a:prstGeom prst="roundRect">
            <a:avLst>
              <a:gd name="adj" fmla="val 2326"/>
            </a:avLst>
          </a:prstGeom>
          <a:solidFill>
            <a:srgbClr val="F5EFE8"/>
          </a:solidFill>
          <a:ln w="12700">
            <a:solidFill>
              <a:srgbClr val="8B4513"/>
            </a:solidFill>
            <a:prstDash val="solid"/>
          </a:ln>
          <a:effectLst>
            <a:outerShdw sx="100000" sy="100000" kx="0" ky="0" algn="bl" rotWithShape="0" blurRad="76200" dist="25400" dir="5400000">
              <a:srgbClr val="000000">
                <a:alpha val="12000"/>
              </a:srgbClr>
            </a:outerShdw>
          </a:effectLst>
        </p:spPr>
      </p:sp>
      <p:sp>
        <p:nvSpPr>
          <p:cNvPr id="6" name="Text 4"/>
          <p:cNvSpPr/>
          <p:nvPr/>
        </p:nvSpPr>
        <p:spPr>
          <a:xfrm>
            <a:off x="6720840" y="1737360"/>
            <a:ext cx="4480560" cy="365760"/>
          </a:xfrm>
          <a:prstGeom prst="rect">
            <a:avLst/>
          </a:prstGeom>
          <a:noFill/>
          <a:ln/>
        </p:spPr>
        <p:txBody>
          <a:bodyPr wrap="square" lIns="0" tIns="0" rIns="0" bIns="0" rtlCol="0" anchor="ctr"/>
          <a:lstStyle/>
          <a:p>
            <a:pPr indent="0" marL="0">
              <a:buNone/>
            </a:pPr>
            <a:r>
              <a:rPr lang="en-US" sz="1800" b="1" dirty="0">
                <a:solidFill>
                  <a:srgbClr val="8B4513"/>
                </a:solidFill>
                <a:latin typeface="Cambria" pitchFamily="34" charset="0"/>
                <a:ea typeface="Cambria" pitchFamily="34" charset="-122"/>
                <a:cs typeface="Cambria" pitchFamily="34" charset="-120"/>
              </a:rPr>
              <a:t>Problématique</a:t>
            </a:r>
            <a:endParaRPr lang="en-US" sz="1800" dirty="0"/>
          </a:p>
        </p:txBody>
      </p:sp>
      <p:sp>
        <p:nvSpPr>
          <p:cNvPr id="7" name="Text 5"/>
          <p:cNvSpPr/>
          <p:nvPr/>
        </p:nvSpPr>
        <p:spPr>
          <a:xfrm>
            <a:off x="6720840" y="2286000"/>
            <a:ext cx="4434840" cy="2834640"/>
          </a:xfrm>
          <a:prstGeom prst="rect">
            <a:avLst/>
          </a:prstGeom>
          <a:noFill/>
          <a:ln/>
        </p:spPr>
        <p:txBody>
          <a:bodyPr wrap="square" lIns="0" tIns="0" rIns="0" bIns="0" rtlCol="0" anchor="t"/>
          <a:lstStyle/>
          <a:p>
            <a:pPr indent="0" marL="0">
              <a:lnSpc>
                <a:spcPct val="115000"/>
              </a:lnSpc>
              <a:buNone/>
            </a:pPr>
            <a:r>
              <a:rPr lang="en-US" sz="1600" i="1" dirty="0">
                <a:solidFill>
                  <a:srgbClr val="262320"/>
                </a:solidFill>
                <a:latin typeface="Calibri" pitchFamily="34" charset="0"/>
                <a:ea typeface="Calibri" pitchFamily="34" charset="-122"/>
                <a:cs typeface="Calibri" pitchFamily="34" charset="-120"/>
              </a:rPr>
              <a:t>Comment offrir aux artisans une gestion simple et aux acheteurs un parcours de confiance, tout en garantissant l’intégrité des données critiques — stocks, commandes, paiements — et en apportant une aide concrète par l’IA ?</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algn="l" indent="0" marL="0">
              <a:buNone/>
            </a:pPr>
            <a:r>
              <a:rPr lang="en-US" sz="3200" b="1" dirty="0">
                <a:solidFill>
                  <a:srgbClr val="8B4513"/>
                </a:solidFill>
                <a:latin typeface="Cambria" pitchFamily="34" charset="0"/>
                <a:ea typeface="Cambria" pitchFamily="34" charset="-122"/>
                <a:cs typeface="Cambria" pitchFamily="34" charset="-120"/>
              </a:rPr>
              <a:t>Objectifs</a:t>
            </a:r>
            <a:endParaRPr lang="en-US" sz="3200" dirty="0"/>
          </a:p>
        </p:txBody>
      </p:sp>
      <p:sp>
        <p:nvSpPr>
          <p:cNvPr id="3" name="Shape 1"/>
          <p:cNvSpPr/>
          <p:nvPr/>
        </p:nvSpPr>
        <p:spPr>
          <a:xfrm>
            <a:off x="640080" y="1463040"/>
            <a:ext cx="3520440" cy="4114800"/>
          </a:xfrm>
          <a:prstGeom prst="roundRect">
            <a:avLst>
              <a:gd name="adj" fmla="val 2597"/>
            </a:avLst>
          </a:prstGeom>
          <a:solidFill>
            <a:srgbClr val="FFFFFF"/>
          </a:solidFill>
          <a:ln w="12700">
            <a:solidFill>
              <a:srgbClr val="EFE7DB"/>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640080" y="1463040"/>
            <a:ext cx="3520440" cy="685800"/>
          </a:xfrm>
          <a:prstGeom prst="roundRect">
            <a:avLst>
              <a:gd name="adj" fmla="val 13333"/>
            </a:avLst>
          </a:prstGeom>
          <a:solidFill>
            <a:srgbClr val="8B4513"/>
          </a:solidFill>
          <a:ln/>
        </p:spPr>
      </p:sp>
      <p:sp>
        <p:nvSpPr>
          <p:cNvPr id="5" name="Text 3"/>
          <p:cNvSpPr/>
          <p:nvPr/>
        </p:nvSpPr>
        <p:spPr>
          <a:xfrm>
            <a:off x="640080" y="1463040"/>
            <a:ext cx="352044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Fonctionnels</a:t>
            </a:r>
            <a:endParaRPr lang="en-US" sz="2000" dirty="0"/>
          </a:p>
        </p:txBody>
      </p:sp>
      <p:sp>
        <p:nvSpPr>
          <p:cNvPr id="6" name="Text 4"/>
          <p:cNvSpPr/>
          <p:nvPr/>
        </p:nvSpPr>
        <p:spPr>
          <a:xfrm>
            <a:off x="914400" y="2377440"/>
            <a:ext cx="3017520" cy="301752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262320"/>
                </a:solidFill>
                <a:latin typeface="Calibri" pitchFamily="34" charset="0"/>
                <a:ea typeface="Calibri" pitchFamily="34" charset="-122"/>
                <a:cs typeface="Calibri" pitchFamily="34" charset="-120"/>
              </a:rPr>
              <a:t>Catalogue : recherche, filtres objet × matière</a:t>
            </a:r>
            <a:endParaRPr lang="en-US" sz="1350" dirty="0"/>
          </a:p>
          <a:p>
            <a:pPr marL="177800" indent="-177800">
              <a:spcAft>
                <a:spcPts val="900"/>
              </a:spcAft>
              <a:buSzPct val="100000"/>
              <a:buChar char="•"/>
            </a:pPr>
            <a:r>
              <a:rPr lang="en-US" sz="1350" dirty="0">
                <a:solidFill>
                  <a:srgbClr val="262320"/>
                </a:solidFill>
                <a:latin typeface="Calibri" pitchFamily="34" charset="0"/>
                <a:ea typeface="Calibri" pitchFamily="34" charset="-122"/>
                <a:cs typeface="Calibri" pitchFamily="34" charset="-120"/>
              </a:rPr>
              <a:t>Fiche produit + avis vérifiés</a:t>
            </a:r>
            <a:endParaRPr lang="en-US" sz="1350" dirty="0"/>
          </a:p>
          <a:p>
            <a:pPr marL="177800" indent="-177800">
              <a:spcAft>
                <a:spcPts val="900"/>
              </a:spcAft>
              <a:buSzPct val="100000"/>
              <a:buChar char="•"/>
            </a:pPr>
            <a:r>
              <a:rPr lang="en-US" sz="1350" dirty="0">
                <a:solidFill>
                  <a:srgbClr val="262320"/>
                </a:solidFill>
                <a:latin typeface="Calibri" pitchFamily="34" charset="0"/>
                <a:ea typeface="Calibri" pitchFamily="34" charset="-122"/>
                <a:cs typeface="Calibri" pitchFamily="34" charset="-120"/>
              </a:rPr>
              <a:t>Panier &amp; commande transactionnelle</a:t>
            </a:r>
            <a:endParaRPr lang="en-US" sz="1350" dirty="0"/>
          </a:p>
          <a:p>
            <a:pPr marL="177800" indent="-177800">
              <a:spcAft>
                <a:spcPts val="900"/>
              </a:spcAft>
              <a:buSzPct val="100000"/>
              <a:buChar char="•"/>
            </a:pPr>
            <a:r>
              <a:rPr lang="en-US" sz="1350" dirty="0">
                <a:solidFill>
                  <a:srgbClr val="262320"/>
                </a:solidFill>
                <a:latin typeface="Calibri" pitchFamily="34" charset="0"/>
                <a:ea typeface="Calibri" pitchFamily="34" charset="-122"/>
                <a:cs typeface="Calibri" pitchFamily="34" charset="-120"/>
              </a:rPr>
              <a:t>3 rôles + espace vendeur + back-office</a:t>
            </a:r>
            <a:endParaRPr lang="en-US" sz="1350" dirty="0"/>
          </a:p>
        </p:txBody>
      </p:sp>
      <p:sp>
        <p:nvSpPr>
          <p:cNvPr id="7" name="Shape 5"/>
          <p:cNvSpPr/>
          <p:nvPr/>
        </p:nvSpPr>
        <p:spPr>
          <a:xfrm>
            <a:off x="4434840" y="1463040"/>
            <a:ext cx="3520440" cy="4114800"/>
          </a:xfrm>
          <a:prstGeom prst="roundRect">
            <a:avLst>
              <a:gd name="adj" fmla="val 2597"/>
            </a:avLst>
          </a:prstGeom>
          <a:solidFill>
            <a:srgbClr val="FFFFFF"/>
          </a:solidFill>
          <a:ln w="12700">
            <a:solidFill>
              <a:srgbClr val="EFE7DB"/>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4434840" y="1463040"/>
            <a:ext cx="3520440" cy="685800"/>
          </a:xfrm>
          <a:prstGeom prst="roundRect">
            <a:avLst>
              <a:gd name="adj" fmla="val 13333"/>
            </a:avLst>
          </a:prstGeom>
          <a:solidFill>
            <a:srgbClr val="7E22CE"/>
          </a:solidFill>
          <a:ln/>
        </p:spPr>
      </p:sp>
      <p:sp>
        <p:nvSpPr>
          <p:cNvPr id="9" name="Text 7"/>
          <p:cNvSpPr/>
          <p:nvPr/>
        </p:nvSpPr>
        <p:spPr>
          <a:xfrm>
            <a:off x="4434840" y="1463040"/>
            <a:ext cx="352044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IA</a:t>
            </a:r>
            <a:endParaRPr lang="en-US" sz="2000" dirty="0"/>
          </a:p>
        </p:txBody>
      </p:sp>
      <p:sp>
        <p:nvSpPr>
          <p:cNvPr id="10" name="Text 8"/>
          <p:cNvSpPr/>
          <p:nvPr/>
        </p:nvSpPr>
        <p:spPr>
          <a:xfrm>
            <a:off x="4709160" y="2377440"/>
            <a:ext cx="3017520" cy="301752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262320"/>
                </a:solidFill>
                <a:latin typeface="Calibri" pitchFamily="34" charset="0"/>
                <a:ea typeface="Calibri" pitchFamily="34" charset="-122"/>
                <a:cs typeface="Calibri" pitchFamily="34" charset="-120"/>
              </a:rPr>
              <a:t>Recommandation personnalisée de produits</a:t>
            </a:r>
            <a:endParaRPr lang="en-US" sz="1350" dirty="0"/>
          </a:p>
          <a:p>
            <a:pPr marL="177800" indent="-177800">
              <a:spcAft>
                <a:spcPts val="900"/>
              </a:spcAft>
              <a:buSzPct val="100000"/>
              <a:buChar char="•"/>
            </a:pPr>
            <a:r>
              <a:rPr lang="en-US" sz="1350" dirty="0">
                <a:solidFill>
                  <a:srgbClr val="262320"/>
                </a:solidFill>
                <a:latin typeface="Calibri" pitchFamily="34" charset="0"/>
                <a:ea typeface="Calibri" pitchFamily="34" charset="-122"/>
                <a:cs typeface="Calibri" pitchFamily="34" charset="-120"/>
              </a:rPr>
              <a:t>(option C du cahier des charges)</a:t>
            </a:r>
            <a:endParaRPr lang="en-US" sz="1350" dirty="0"/>
          </a:p>
          <a:p>
            <a:pPr marL="177800" indent="-177800">
              <a:spcAft>
                <a:spcPts val="900"/>
              </a:spcAft>
              <a:buSzPct val="100000"/>
              <a:buChar char="•"/>
            </a:pPr>
            <a:r>
              <a:rPr lang="en-US" sz="1350" dirty="0">
                <a:solidFill>
                  <a:srgbClr val="262320"/>
                </a:solidFill>
                <a:latin typeface="Calibri" pitchFamily="34" charset="0"/>
                <a:ea typeface="Calibri" pitchFamily="34" charset="-122"/>
                <a:cs typeface="Calibri" pitchFamily="34" charset="-120"/>
              </a:rPr>
              <a:t>Suggestions selon fiche, panier, historique</a:t>
            </a:r>
            <a:endParaRPr lang="en-US" sz="1350" dirty="0"/>
          </a:p>
        </p:txBody>
      </p:sp>
      <p:sp>
        <p:nvSpPr>
          <p:cNvPr id="11" name="Shape 9"/>
          <p:cNvSpPr/>
          <p:nvPr/>
        </p:nvSpPr>
        <p:spPr>
          <a:xfrm>
            <a:off x="8229600" y="1463040"/>
            <a:ext cx="3520440" cy="4114800"/>
          </a:xfrm>
          <a:prstGeom prst="roundRect">
            <a:avLst>
              <a:gd name="adj" fmla="val 2597"/>
            </a:avLst>
          </a:prstGeom>
          <a:solidFill>
            <a:srgbClr val="FFFFFF"/>
          </a:solidFill>
          <a:ln w="12700">
            <a:solidFill>
              <a:srgbClr val="EFE7DB"/>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8229600" y="1463040"/>
            <a:ext cx="3520440" cy="685800"/>
          </a:xfrm>
          <a:prstGeom prst="roundRect">
            <a:avLst>
              <a:gd name="adj" fmla="val 13333"/>
            </a:avLst>
          </a:prstGeom>
          <a:solidFill>
            <a:srgbClr val="6B7C3F"/>
          </a:solidFill>
          <a:ln/>
        </p:spPr>
      </p:sp>
      <p:sp>
        <p:nvSpPr>
          <p:cNvPr id="13" name="Text 11"/>
          <p:cNvSpPr/>
          <p:nvPr/>
        </p:nvSpPr>
        <p:spPr>
          <a:xfrm>
            <a:off x="8229600" y="1463040"/>
            <a:ext cx="352044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Techniques</a:t>
            </a:r>
            <a:endParaRPr lang="en-US" sz="2000" dirty="0"/>
          </a:p>
        </p:txBody>
      </p:sp>
      <p:sp>
        <p:nvSpPr>
          <p:cNvPr id="14" name="Text 12"/>
          <p:cNvSpPr/>
          <p:nvPr/>
        </p:nvSpPr>
        <p:spPr>
          <a:xfrm>
            <a:off x="8503920" y="2377440"/>
            <a:ext cx="3017520" cy="301752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262320"/>
                </a:solidFill>
                <a:latin typeface="Calibri" pitchFamily="34" charset="0"/>
                <a:ea typeface="Calibri" pitchFamily="34" charset="-122"/>
                <a:cs typeface="Calibri" pitchFamily="34" charset="-120"/>
              </a:rPr>
              <a:t>API REST Laravel 11 + Eloquent (JWT)</a:t>
            </a:r>
            <a:endParaRPr lang="en-US" sz="1350" dirty="0"/>
          </a:p>
          <a:p>
            <a:pPr marL="177800" indent="-177800">
              <a:spcAft>
                <a:spcPts val="900"/>
              </a:spcAft>
              <a:buSzPct val="100000"/>
              <a:buChar char="•"/>
            </a:pPr>
            <a:r>
              <a:rPr lang="en-US" sz="1350" dirty="0">
                <a:solidFill>
                  <a:srgbClr val="262320"/>
                </a:solidFill>
                <a:latin typeface="Calibri" pitchFamily="34" charset="0"/>
                <a:ea typeface="Calibri" pitchFamily="34" charset="-122"/>
                <a:cs typeface="Calibri" pitchFamily="34" charset="-120"/>
              </a:rPr>
              <a:t>Une API pour le web ET le mobile</a:t>
            </a:r>
            <a:endParaRPr lang="en-US" sz="1350" dirty="0"/>
          </a:p>
          <a:p>
            <a:pPr marL="177800" indent="-177800">
              <a:spcAft>
                <a:spcPts val="900"/>
              </a:spcAft>
              <a:buSzPct val="100000"/>
              <a:buChar char="•"/>
            </a:pPr>
            <a:r>
              <a:rPr lang="en-US" sz="1350" dirty="0">
                <a:solidFill>
                  <a:srgbClr val="262320"/>
                </a:solidFill>
                <a:latin typeface="Calibri" pitchFamily="34" charset="0"/>
                <a:ea typeface="Calibri" pitchFamily="34" charset="-122"/>
                <a:cs typeface="Calibri" pitchFamily="34" charset="-120"/>
              </a:rPr>
              <a:t>Intégrité : transactions, triggers</a:t>
            </a:r>
            <a:endParaRPr lang="en-US" sz="1350" dirty="0"/>
          </a:p>
          <a:p>
            <a:pPr marL="177800" indent="-177800">
              <a:spcAft>
                <a:spcPts val="900"/>
              </a:spcAft>
              <a:buSzPct val="100000"/>
              <a:buChar char="•"/>
            </a:pPr>
            <a:r>
              <a:rPr lang="en-US" sz="1350" dirty="0">
                <a:solidFill>
                  <a:srgbClr val="262320"/>
                </a:solidFill>
                <a:latin typeface="Calibri" pitchFamily="34" charset="0"/>
                <a:ea typeface="Calibri" pitchFamily="34" charset="-122"/>
                <a:cs typeface="Calibri" pitchFamily="34" charset="-120"/>
              </a:rPr>
              <a:t>CI/CD + tests automatisés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algn="l" indent="0" marL="0">
              <a:buNone/>
            </a:pPr>
            <a:r>
              <a:rPr lang="en-US" sz="3200" b="1" dirty="0">
                <a:solidFill>
                  <a:srgbClr val="8B4513"/>
                </a:solidFill>
                <a:latin typeface="Cambria" pitchFamily="34" charset="0"/>
                <a:ea typeface="Cambria" pitchFamily="34" charset="-122"/>
                <a:cs typeface="Cambria" pitchFamily="34" charset="-120"/>
              </a:rPr>
              <a:t>Analyse des besoins — cas d’utilisation</a:t>
            </a:r>
            <a:endParaRPr lang="en-US" sz="3200" dirty="0"/>
          </a:p>
        </p:txBody>
      </p:sp>
      <p:sp>
        <p:nvSpPr>
          <p:cNvPr id="3" name="Shape 1"/>
          <p:cNvSpPr/>
          <p:nvPr/>
        </p:nvSpPr>
        <p:spPr>
          <a:xfrm>
            <a:off x="640080" y="1508760"/>
            <a:ext cx="3520440" cy="3200400"/>
          </a:xfrm>
          <a:prstGeom prst="roundRect">
            <a:avLst>
              <a:gd name="adj" fmla="val 2857"/>
            </a:avLst>
          </a:prstGeom>
          <a:solidFill>
            <a:srgbClr val="FFFFFF"/>
          </a:solidFill>
          <a:ln w="12700">
            <a:solidFill>
              <a:srgbClr val="EFE7DB"/>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640080" y="1508760"/>
            <a:ext cx="3520440" cy="640080"/>
          </a:xfrm>
          <a:prstGeom prst="roundRect">
            <a:avLst>
              <a:gd name="adj" fmla="val 14286"/>
            </a:avLst>
          </a:prstGeom>
          <a:solidFill>
            <a:srgbClr val="8B4513"/>
          </a:solidFill>
          <a:ln/>
        </p:spPr>
      </p:sp>
      <p:sp>
        <p:nvSpPr>
          <p:cNvPr id="5" name="Text 3"/>
          <p:cNvSpPr/>
          <p:nvPr/>
        </p:nvSpPr>
        <p:spPr>
          <a:xfrm>
            <a:off x="640080" y="1508760"/>
            <a:ext cx="352044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Acheteur</a:t>
            </a:r>
            <a:endParaRPr lang="en-US" sz="1800" dirty="0"/>
          </a:p>
        </p:txBody>
      </p:sp>
      <p:sp>
        <p:nvSpPr>
          <p:cNvPr id="6" name="Text 4"/>
          <p:cNvSpPr/>
          <p:nvPr/>
        </p:nvSpPr>
        <p:spPr>
          <a:xfrm>
            <a:off x="914400" y="2377440"/>
            <a:ext cx="3017520" cy="21945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2320"/>
                </a:solidFill>
                <a:latin typeface="Calibri" pitchFamily="34" charset="0"/>
                <a:ea typeface="Calibri" pitchFamily="34" charset="-122"/>
                <a:cs typeface="Calibri" pitchFamily="34" charset="-120"/>
              </a:rPr>
              <a:t>S’inscrire, se connecter</a:t>
            </a:r>
            <a:endParaRPr lang="en-US" sz="1250" dirty="0"/>
          </a:p>
          <a:p>
            <a:pPr marL="177800" indent="-177800">
              <a:spcAft>
                <a:spcPts val="800"/>
              </a:spcAft>
              <a:buSzPct val="100000"/>
              <a:buChar char="•"/>
            </a:pPr>
            <a:r>
              <a:rPr lang="en-US" sz="1250" dirty="0">
                <a:solidFill>
                  <a:srgbClr val="262320"/>
                </a:solidFill>
                <a:latin typeface="Calibri" pitchFamily="34" charset="0"/>
                <a:ea typeface="Calibri" pitchFamily="34" charset="-122"/>
                <a:cs typeface="Calibri" pitchFamily="34" charset="-120"/>
              </a:rPr>
              <a:t>Parcourir &amp; filtrer le catalogue</a:t>
            </a:r>
            <a:endParaRPr lang="en-US" sz="1250" dirty="0"/>
          </a:p>
          <a:p>
            <a:pPr marL="177800" indent="-177800">
              <a:spcAft>
                <a:spcPts val="800"/>
              </a:spcAft>
              <a:buSzPct val="100000"/>
              <a:buChar char="•"/>
            </a:pPr>
            <a:r>
              <a:rPr lang="en-US" sz="1250" dirty="0">
                <a:solidFill>
                  <a:srgbClr val="262320"/>
                </a:solidFill>
                <a:latin typeface="Calibri" pitchFamily="34" charset="0"/>
                <a:ea typeface="Calibri" pitchFamily="34" charset="-122"/>
                <a:cs typeface="Calibri" pitchFamily="34" charset="-120"/>
              </a:rPr>
              <a:t>Gérer le panier, commander</a:t>
            </a:r>
            <a:endParaRPr lang="en-US" sz="1250" dirty="0"/>
          </a:p>
          <a:p>
            <a:pPr marL="177800" indent="-177800">
              <a:spcAft>
                <a:spcPts val="800"/>
              </a:spcAft>
              <a:buSzPct val="100000"/>
              <a:buChar char="•"/>
            </a:pPr>
            <a:r>
              <a:rPr lang="en-US" sz="1250" dirty="0">
                <a:solidFill>
                  <a:srgbClr val="262320"/>
                </a:solidFill>
                <a:latin typeface="Calibri" pitchFamily="34" charset="0"/>
                <a:ea typeface="Calibri" pitchFamily="34" charset="-122"/>
                <a:cs typeface="Calibri" pitchFamily="34" charset="-120"/>
              </a:rPr>
              <a:t>Suivre ses commandes</a:t>
            </a:r>
            <a:endParaRPr lang="en-US" sz="1250" dirty="0"/>
          </a:p>
          <a:p>
            <a:pPr marL="177800" indent="-177800">
              <a:spcAft>
                <a:spcPts val="800"/>
              </a:spcAft>
              <a:buSzPct val="100000"/>
              <a:buChar char="•"/>
            </a:pPr>
            <a:r>
              <a:rPr lang="en-US" sz="1250" dirty="0">
                <a:solidFill>
                  <a:srgbClr val="262320"/>
                </a:solidFill>
                <a:latin typeface="Calibri" pitchFamily="34" charset="0"/>
                <a:ea typeface="Calibri" pitchFamily="34" charset="-122"/>
                <a:cs typeface="Calibri" pitchFamily="34" charset="-120"/>
              </a:rPr>
              <a:t>Déposer un avis (après livraison)</a:t>
            </a:r>
            <a:endParaRPr lang="en-US" sz="1250" dirty="0"/>
          </a:p>
        </p:txBody>
      </p:sp>
      <p:sp>
        <p:nvSpPr>
          <p:cNvPr id="7" name="Shape 5"/>
          <p:cNvSpPr/>
          <p:nvPr/>
        </p:nvSpPr>
        <p:spPr>
          <a:xfrm>
            <a:off x="4434840" y="1508760"/>
            <a:ext cx="3520440" cy="3200400"/>
          </a:xfrm>
          <a:prstGeom prst="roundRect">
            <a:avLst>
              <a:gd name="adj" fmla="val 2857"/>
            </a:avLst>
          </a:prstGeom>
          <a:solidFill>
            <a:srgbClr val="FFFFFF"/>
          </a:solidFill>
          <a:ln w="12700">
            <a:solidFill>
              <a:srgbClr val="EFE7DB"/>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4434840" y="1508760"/>
            <a:ext cx="3520440" cy="640080"/>
          </a:xfrm>
          <a:prstGeom prst="roundRect">
            <a:avLst>
              <a:gd name="adj" fmla="val 14286"/>
            </a:avLst>
          </a:prstGeom>
          <a:solidFill>
            <a:srgbClr val="6B7C3F"/>
          </a:solidFill>
          <a:ln/>
        </p:spPr>
      </p:sp>
      <p:sp>
        <p:nvSpPr>
          <p:cNvPr id="9" name="Text 7"/>
          <p:cNvSpPr/>
          <p:nvPr/>
        </p:nvSpPr>
        <p:spPr>
          <a:xfrm>
            <a:off x="4434840" y="1508760"/>
            <a:ext cx="352044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Vendeur</a:t>
            </a:r>
            <a:endParaRPr lang="en-US" sz="1800" dirty="0"/>
          </a:p>
        </p:txBody>
      </p:sp>
      <p:sp>
        <p:nvSpPr>
          <p:cNvPr id="10" name="Text 8"/>
          <p:cNvSpPr/>
          <p:nvPr/>
        </p:nvSpPr>
        <p:spPr>
          <a:xfrm>
            <a:off x="4709160" y="2377440"/>
            <a:ext cx="3017520" cy="21945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2320"/>
                </a:solidFill>
                <a:latin typeface="Calibri" pitchFamily="34" charset="0"/>
                <a:ea typeface="Calibri" pitchFamily="34" charset="-122"/>
                <a:cs typeface="Calibri" pitchFamily="34" charset="-120"/>
              </a:rPr>
              <a:t>Créer &amp; gérer sa boutique</a:t>
            </a:r>
            <a:endParaRPr lang="en-US" sz="1250" dirty="0"/>
          </a:p>
          <a:p>
            <a:pPr marL="177800" indent="-177800">
              <a:spcAft>
                <a:spcPts val="800"/>
              </a:spcAft>
              <a:buSzPct val="100000"/>
              <a:buChar char="•"/>
            </a:pPr>
            <a:r>
              <a:rPr lang="en-US" sz="1250" dirty="0">
                <a:solidFill>
                  <a:srgbClr val="262320"/>
                </a:solidFill>
                <a:latin typeface="Calibri" pitchFamily="34" charset="0"/>
                <a:ea typeface="Calibri" pitchFamily="34" charset="-122"/>
                <a:cs typeface="Calibri" pitchFamily="34" charset="-120"/>
              </a:rPr>
              <a:t>Gérer ses produits (CRUD)</a:t>
            </a:r>
            <a:endParaRPr lang="en-US" sz="1250" dirty="0"/>
          </a:p>
          <a:p>
            <a:pPr marL="177800" indent="-177800">
              <a:spcAft>
                <a:spcPts val="800"/>
              </a:spcAft>
              <a:buSzPct val="100000"/>
              <a:buChar char="•"/>
            </a:pPr>
            <a:r>
              <a:rPr lang="en-US" sz="1250" dirty="0">
                <a:solidFill>
                  <a:srgbClr val="262320"/>
                </a:solidFill>
                <a:latin typeface="Calibri" pitchFamily="34" charset="0"/>
                <a:ea typeface="Calibri" pitchFamily="34" charset="-122"/>
                <a:cs typeface="Calibri" pitchFamily="34" charset="-120"/>
              </a:rPr>
              <a:t>Gérer les commandes reçues</a:t>
            </a:r>
            <a:endParaRPr lang="en-US" sz="1250" dirty="0"/>
          </a:p>
          <a:p>
            <a:pPr marL="177800" indent="-177800">
              <a:spcAft>
                <a:spcPts val="800"/>
              </a:spcAft>
              <a:buSzPct val="100000"/>
              <a:buChar char="•"/>
            </a:pPr>
            <a:r>
              <a:rPr lang="en-US" sz="1250" dirty="0">
                <a:solidFill>
                  <a:srgbClr val="262320"/>
                </a:solidFill>
                <a:latin typeface="Calibri" pitchFamily="34" charset="0"/>
                <a:ea typeface="Calibri" pitchFamily="34" charset="-122"/>
                <a:cs typeface="Calibri" pitchFamily="34" charset="-120"/>
              </a:rPr>
              <a:t>Consulter ses statistiques</a:t>
            </a:r>
            <a:endParaRPr lang="en-US" sz="1250" dirty="0"/>
          </a:p>
        </p:txBody>
      </p:sp>
      <p:sp>
        <p:nvSpPr>
          <p:cNvPr id="11" name="Shape 9"/>
          <p:cNvSpPr/>
          <p:nvPr/>
        </p:nvSpPr>
        <p:spPr>
          <a:xfrm>
            <a:off x="8229600" y="1508760"/>
            <a:ext cx="3520440" cy="3200400"/>
          </a:xfrm>
          <a:prstGeom prst="roundRect">
            <a:avLst>
              <a:gd name="adj" fmla="val 2857"/>
            </a:avLst>
          </a:prstGeom>
          <a:solidFill>
            <a:srgbClr val="FFFFFF"/>
          </a:solidFill>
          <a:ln w="12700">
            <a:solidFill>
              <a:srgbClr val="EFE7DB"/>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8229600" y="1508760"/>
            <a:ext cx="3520440" cy="640080"/>
          </a:xfrm>
          <a:prstGeom prst="roundRect">
            <a:avLst>
              <a:gd name="adj" fmla="val 14286"/>
            </a:avLst>
          </a:prstGeom>
          <a:solidFill>
            <a:srgbClr val="17A2B8"/>
          </a:solidFill>
          <a:ln/>
        </p:spPr>
      </p:sp>
      <p:sp>
        <p:nvSpPr>
          <p:cNvPr id="13" name="Text 11"/>
          <p:cNvSpPr/>
          <p:nvPr/>
        </p:nvSpPr>
        <p:spPr>
          <a:xfrm>
            <a:off x="8229600" y="1508760"/>
            <a:ext cx="352044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Administrateur</a:t>
            </a:r>
            <a:endParaRPr lang="en-US" sz="1800" dirty="0"/>
          </a:p>
        </p:txBody>
      </p:sp>
      <p:sp>
        <p:nvSpPr>
          <p:cNvPr id="14" name="Text 12"/>
          <p:cNvSpPr/>
          <p:nvPr/>
        </p:nvSpPr>
        <p:spPr>
          <a:xfrm>
            <a:off x="8503920" y="2377440"/>
            <a:ext cx="3017520" cy="21945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2320"/>
                </a:solidFill>
                <a:latin typeface="Calibri" pitchFamily="34" charset="0"/>
                <a:ea typeface="Calibri" pitchFamily="34" charset="-122"/>
                <a:cs typeface="Calibri" pitchFamily="34" charset="-120"/>
              </a:rPr>
              <a:t>Superviser utilisateurs &amp; boutiques</a:t>
            </a:r>
            <a:endParaRPr lang="en-US" sz="1250" dirty="0"/>
          </a:p>
          <a:p>
            <a:pPr marL="177800" indent="-177800">
              <a:spcAft>
                <a:spcPts val="800"/>
              </a:spcAft>
              <a:buSzPct val="100000"/>
              <a:buChar char="•"/>
            </a:pPr>
            <a:r>
              <a:rPr lang="en-US" sz="1250" dirty="0">
                <a:solidFill>
                  <a:srgbClr val="262320"/>
                </a:solidFill>
                <a:latin typeface="Calibri" pitchFamily="34" charset="0"/>
                <a:ea typeface="Calibri" pitchFamily="34" charset="-122"/>
                <a:cs typeface="Calibri" pitchFamily="34" charset="-120"/>
              </a:rPr>
              <a:t>Gérer les catégories</a:t>
            </a:r>
            <a:endParaRPr lang="en-US" sz="1250" dirty="0"/>
          </a:p>
          <a:p>
            <a:pPr marL="177800" indent="-177800">
              <a:spcAft>
                <a:spcPts val="800"/>
              </a:spcAft>
              <a:buSzPct val="100000"/>
              <a:buChar char="•"/>
            </a:pPr>
            <a:r>
              <a:rPr lang="en-US" sz="1250" dirty="0">
                <a:solidFill>
                  <a:srgbClr val="262320"/>
                </a:solidFill>
                <a:latin typeface="Calibri" pitchFamily="34" charset="0"/>
                <a:ea typeface="Calibri" pitchFamily="34" charset="-122"/>
                <a:cs typeface="Calibri" pitchFamily="34" charset="-120"/>
              </a:rPr>
              <a:t>Modérer les avis</a:t>
            </a:r>
            <a:endParaRPr lang="en-US" sz="1250" dirty="0"/>
          </a:p>
          <a:p>
            <a:pPr marL="177800" indent="-177800">
              <a:spcAft>
                <a:spcPts val="800"/>
              </a:spcAft>
              <a:buSzPct val="100000"/>
              <a:buChar char="•"/>
            </a:pPr>
            <a:r>
              <a:rPr lang="en-US" sz="1250" dirty="0">
                <a:solidFill>
                  <a:srgbClr val="262320"/>
                </a:solidFill>
                <a:latin typeface="Calibri" pitchFamily="34" charset="0"/>
                <a:ea typeface="Calibri" pitchFamily="34" charset="-122"/>
                <a:cs typeface="Calibri" pitchFamily="34" charset="-120"/>
              </a:rPr>
              <a:t>Consulter le journal d’activité</a:t>
            </a:r>
            <a:endParaRPr lang="en-US" sz="1250" dirty="0"/>
          </a:p>
        </p:txBody>
      </p:sp>
      <p:sp>
        <p:nvSpPr>
          <p:cNvPr id="15" name="Shape 13"/>
          <p:cNvSpPr/>
          <p:nvPr/>
        </p:nvSpPr>
        <p:spPr>
          <a:xfrm>
            <a:off x="640080" y="4937760"/>
            <a:ext cx="10835640" cy="914400"/>
          </a:xfrm>
          <a:prstGeom prst="roundRect">
            <a:avLst>
              <a:gd name="adj" fmla="val 10000"/>
            </a:avLst>
          </a:prstGeom>
          <a:solidFill>
            <a:srgbClr val="F5EFE8"/>
          </a:solidFill>
          <a:ln w="12700">
            <a:solidFill>
              <a:srgbClr val="8B4513"/>
            </a:solidFill>
            <a:prstDash val="solid"/>
          </a:ln>
          <a:effectLst>
            <a:outerShdw sx="100000" sy="100000" kx="0" ky="0" algn="bl" rotWithShape="0" blurRad="76200" dist="25400" dir="5400000">
              <a:srgbClr val="000000">
                <a:alpha val="12000"/>
              </a:srgbClr>
            </a:outerShdw>
          </a:effectLst>
        </p:spPr>
      </p:sp>
      <p:sp>
        <p:nvSpPr>
          <p:cNvPr id="16" name="Text 14"/>
          <p:cNvSpPr/>
          <p:nvPr/>
        </p:nvSpPr>
        <p:spPr>
          <a:xfrm>
            <a:off x="914400" y="5029200"/>
            <a:ext cx="10332720" cy="731520"/>
          </a:xfrm>
          <a:prstGeom prst="rect">
            <a:avLst/>
          </a:prstGeom>
          <a:noFill/>
          <a:ln/>
        </p:spPr>
        <p:txBody>
          <a:bodyPr wrap="square" lIns="0" tIns="0" rIns="0" bIns="0" rtlCol="0" anchor="ctr"/>
          <a:lstStyle/>
          <a:p>
            <a:pPr indent="0" marL="0">
              <a:lnSpc>
                <a:spcPct val="110000"/>
              </a:lnSpc>
              <a:buNone/>
            </a:pPr>
            <a:r>
              <a:rPr lang="en-US" sz="1350" b="1" dirty="0">
                <a:solidFill>
                  <a:srgbClr val="8B4513"/>
                </a:solidFill>
                <a:latin typeface="Calibri" pitchFamily="34" charset="0"/>
                <a:ea typeface="Calibri" pitchFamily="34" charset="-122"/>
                <a:cs typeface="Calibri" pitchFamily="34" charset="-120"/>
              </a:rPr>
              <a:t>Relations clés : </a:t>
            </a:r>
            <a:pPr indent="0" marL="0">
              <a:lnSpc>
                <a:spcPct val="110000"/>
              </a:lnSpc>
              <a:buNone/>
            </a:pPr>
            <a:r>
              <a:rPr lang="en-US" sz="1350" dirty="0">
                <a:solidFill>
                  <a:srgbClr val="262320"/>
                </a:solidFill>
                <a:latin typeface="Calibri" pitchFamily="34" charset="0"/>
                <a:ea typeface="Calibri" pitchFamily="34" charset="-122"/>
                <a:cs typeface="Calibri" pitchFamily="34" charset="-120"/>
              </a:rPr>
              <a:t>«include» authentification sur les cas protégés · «extend» « laisser un avis », déclenché seulement depuis une commande livrée (règle de l’avis vérifié).</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algn="l" indent="0" marL="0">
              <a:buNone/>
            </a:pPr>
            <a:r>
              <a:rPr lang="en-US" sz="3200" b="1" dirty="0">
                <a:solidFill>
                  <a:srgbClr val="8B4513"/>
                </a:solidFill>
                <a:latin typeface="Cambria" pitchFamily="34" charset="0"/>
                <a:ea typeface="Cambria" pitchFamily="34" charset="-122"/>
                <a:cs typeface="Cambria" pitchFamily="34" charset="-120"/>
              </a:rPr>
              <a:t>Analyse des besoins — maquettes (Figma)</a:t>
            </a:r>
            <a:endParaRPr lang="en-US" sz="3200" dirty="0"/>
          </a:p>
        </p:txBody>
      </p:sp>
      <p:sp>
        <p:nvSpPr>
          <p:cNvPr id="3" name="Shape 1"/>
          <p:cNvSpPr/>
          <p:nvPr/>
        </p:nvSpPr>
        <p:spPr>
          <a:xfrm>
            <a:off x="676656" y="1783080"/>
            <a:ext cx="1874520" cy="2834640"/>
          </a:xfrm>
          <a:prstGeom prst="roundRect">
            <a:avLst>
              <a:gd name="adj" fmla="val 3902"/>
            </a:avLst>
          </a:prstGeom>
          <a:solidFill>
            <a:srgbClr val="F7F4EF"/>
          </a:solidFill>
          <a:ln w="12700">
            <a:solidFill>
              <a:srgbClr val="D8CBB6"/>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86384" y="1911096"/>
            <a:ext cx="1655064" cy="201168"/>
          </a:xfrm>
          <a:prstGeom prst="roundRect">
            <a:avLst>
              <a:gd name="adj" fmla="val 18182"/>
            </a:avLst>
          </a:prstGeom>
          <a:solidFill>
            <a:srgbClr val="8B4513"/>
          </a:solidFill>
          <a:ln/>
        </p:spPr>
      </p:sp>
      <p:sp>
        <p:nvSpPr>
          <p:cNvPr id="5" name="Shape 3"/>
          <p:cNvSpPr/>
          <p:nvPr/>
        </p:nvSpPr>
        <p:spPr>
          <a:xfrm>
            <a:off x="786384" y="2240280"/>
            <a:ext cx="1655064" cy="1190549"/>
          </a:xfrm>
          <a:prstGeom prst="roundRect">
            <a:avLst>
              <a:gd name="adj" fmla="val 3072"/>
            </a:avLst>
          </a:prstGeom>
          <a:solidFill>
            <a:srgbClr val="E3D9C6"/>
          </a:solidFill>
          <a:ln/>
        </p:spPr>
      </p:sp>
      <p:sp>
        <p:nvSpPr>
          <p:cNvPr id="6" name="Shape 4"/>
          <p:cNvSpPr/>
          <p:nvPr/>
        </p:nvSpPr>
        <p:spPr>
          <a:xfrm>
            <a:off x="786384" y="4087368"/>
            <a:ext cx="1241298" cy="109728"/>
          </a:xfrm>
          <a:prstGeom prst="rect">
            <a:avLst/>
          </a:prstGeom>
          <a:solidFill>
            <a:srgbClr val="DFD4C0"/>
          </a:solidFill>
          <a:ln/>
        </p:spPr>
      </p:sp>
      <p:sp>
        <p:nvSpPr>
          <p:cNvPr id="7" name="Shape 5"/>
          <p:cNvSpPr/>
          <p:nvPr/>
        </p:nvSpPr>
        <p:spPr>
          <a:xfrm>
            <a:off x="786384" y="4270248"/>
            <a:ext cx="827532" cy="109728"/>
          </a:xfrm>
          <a:prstGeom prst="rect">
            <a:avLst/>
          </a:prstGeom>
          <a:solidFill>
            <a:srgbClr val="DFD4C0"/>
          </a:solidFill>
          <a:ln/>
        </p:spPr>
      </p:sp>
      <p:sp>
        <p:nvSpPr>
          <p:cNvPr id="8" name="Text 6"/>
          <p:cNvSpPr/>
          <p:nvPr/>
        </p:nvSpPr>
        <p:spPr>
          <a:xfrm>
            <a:off x="585216" y="4690872"/>
            <a:ext cx="2057400" cy="274320"/>
          </a:xfrm>
          <a:prstGeom prst="rect">
            <a:avLst/>
          </a:prstGeom>
          <a:noFill/>
          <a:ln/>
        </p:spPr>
        <p:txBody>
          <a:bodyPr wrap="square" lIns="0" tIns="0" rIns="0" bIns="0" rtlCol="0" anchor="ctr"/>
          <a:lstStyle/>
          <a:p>
            <a:pPr algn="ctr" indent="0" marL="0">
              <a:buNone/>
            </a:pPr>
            <a:r>
              <a:rPr lang="en-US" sz="1200" dirty="0">
                <a:solidFill>
                  <a:srgbClr val="262320"/>
                </a:solidFill>
                <a:latin typeface="Calibri" pitchFamily="34" charset="0"/>
                <a:ea typeface="Calibri" pitchFamily="34" charset="-122"/>
                <a:cs typeface="Calibri" pitchFamily="34" charset="-120"/>
              </a:rPr>
              <a:t>Accueil</a:t>
            </a:r>
            <a:endParaRPr lang="en-US" sz="1200" dirty="0"/>
          </a:p>
        </p:txBody>
      </p:sp>
      <p:sp>
        <p:nvSpPr>
          <p:cNvPr id="9" name="Shape 7"/>
          <p:cNvSpPr/>
          <p:nvPr/>
        </p:nvSpPr>
        <p:spPr>
          <a:xfrm>
            <a:off x="2916936" y="1783080"/>
            <a:ext cx="1874520" cy="2834640"/>
          </a:xfrm>
          <a:prstGeom prst="roundRect">
            <a:avLst>
              <a:gd name="adj" fmla="val 3902"/>
            </a:avLst>
          </a:prstGeom>
          <a:solidFill>
            <a:srgbClr val="F7F4EF"/>
          </a:solidFill>
          <a:ln w="12700">
            <a:solidFill>
              <a:srgbClr val="D8CBB6"/>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3026664" y="1911096"/>
            <a:ext cx="1655064" cy="201168"/>
          </a:xfrm>
          <a:prstGeom prst="roundRect">
            <a:avLst>
              <a:gd name="adj" fmla="val 18182"/>
            </a:avLst>
          </a:prstGeom>
          <a:solidFill>
            <a:srgbClr val="8B4513"/>
          </a:solidFill>
          <a:ln/>
        </p:spPr>
      </p:sp>
      <p:sp>
        <p:nvSpPr>
          <p:cNvPr id="11" name="Shape 9"/>
          <p:cNvSpPr/>
          <p:nvPr/>
        </p:nvSpPr>
        <p:spPr>
          <a:xfrm>
            <a:off x="3026664" y="2240280"/>
            <a:ext cx="1655064" cy="1190549"/>
          </a:xfrm>
          <a:prstGeom prst="roundRect">
            <a:avLst>
              <a:gd name="adj" fmla="val 3072"/>
            </a:avLst>
          </a:prstGeom>
          <a:solidFill>
            <a:srgbClr val="E3D9C6"/>
          </a:solidFill>
          <a:ln/>
        </p:spPr>
      </p:sp>
      <p:sp>
        <p:nvSpPr>
          <p:cNvPr id="12" name="Shape 10"/>
          <p:cNvSpPr/>
          <p:nvPr/>
        </p:nvSpPr>
        <p:spPr>
          <a:xfrm>
            <a:off x="3026664" y="4087368"/>
            <a:ext cx="1241298" cy="109728"/>
          </a:xfrm>
          <a:prstGeom prst="rect">
            <a:avLst/>
          </a:prstGeom>
          <a:solidFill>
            <a:srgbClr val="DFD4C0"/>
          </a:solidFill>
          <a:ln/>
        </p:spPr>
      </p:sp>
      <p:sp>
        <p:nvSpPr>
          <p:cNvPr id="13" name="Shape 11"/>
          <p:cNvSpPr/>
          <p:nvPr/>
        </p:nvSpPr>
        <p:spPr>
          <a:xfrm>
            <a:off x="3026664" y="4270248"/>
            <a:ext cx="827532" cy="109728"/>
          </a:xfrm>
          <a:prstGeom prst="rect">
            <a:avLst/>
          </a:prstGeom>
          <a:solidFill>
            <a:srgbClr val="DFD4C0"/>
          </a:solidFill>
          <a:ln/>
        </p:spPr>
      </p:sp>
      <p:sp>
        <p:nvSpPr>
          <p:cNvPr id="14" name="Text 12"/>
          <p:cNvSpPr/>
          <p:nvPr/>
        </p:nvSpPr>
        <p:spPr>
          <a:xfrm>
            <a:off x="2825496" y="4690872"/>
            <a:ext cx="2057400" cy="274320"/>
          </a:xfrm>
          <a:prstGeom prst="rect">
            <a:avLst/>
          </a:prstGeom>
          <a:noFill/>
          <a:ln/>
        </p:spPr>
        <p:txBody>
          <a:bodyPr wrap="square" lIns="0" tIns="0" rIns="0" bIns="0" rtlCol="0" anchor="ctr"/>
          <a:lstStyle/>
          <a:p>
            <a:pPr algn="ctr" indent="0" marL="0">
              <a:buNone/>
            </a:pPr>
            <a:r>
              <a:rPr lang="en-US" sz="1200" dirty="0">
                <a:solidFill>
                  <a:srgbClr val="262320"/>
                </a:solidFill>
                <a:latin typeface="Calibri" pitchFamily="34" charset="0"/>
                <a:ea typeface="Calibri" pitchFamily="34" charset="-122"/>
                <a:cs typeface="Calibri" pitchFamily="34" charset="-120"/>
              </a:rPr>
              <a:t>Catalogue</a:t>
            </a:r>
            <a:endParaRPr lang="en-US" sz="1200" dirty="0"/>
          </a:p>
        </p:txBody>
      </p:sp>
      <p:sp>
        <p:nvSpPr>
          <p:cNvPr id="15" name="Shape 13"/>
          <p:cNvSpPr/>
          <p:nvPr/>
        </p:nvSpPr>
        <p:spPr>
          <a:xfrm>
            <a:off x="5157216" y="1783080"/>
            <a:ext cx="1874520" cy="2834640"/>
          </a:xfrm>
          <a:prstGeom prst="roundRect">
            <a:avLst>
              <a:gd name="adj" fmla="val 3902"/>
            </a:avLst>
          </a:prstGeom>
          <a:solidFill>
            <a:srgbClr val="F7F4EF"/>
          </a:solidFill>
          <a:ln w="12700">
            <a:solidFill>
              <a:srgbClr val="D8CBB6"/>
            </a:solidFill>
            <a:prstDash val="solid"/>
          </a:ln>
          <a:effectLst>
            <a:outerShdw sx="100000" sy="100000" kx="0" ky="0" algn="bl" rotWithShape="0" blurRad="76200" dist="25400" dir="5400000">
              <a:srgbClr val="000000">
                <a:alpha val="12000"/>
              </a:srgbClr>
            </a:outerShdw>
          </a:effectLst>
        </p:spPr>
      </p:sp>
      <p:sp>
        <p:nvSpPr>
          <p:cNvPr id="16" name="Shape 14"/>
          <p:cNvSpPr/>
          <p:nvPr/>
        </p:nvSpPr>
        <p:spPr>
          <a:xfrm>
            <a:off x="5266944" y="1911096"/>
            <a:ext cx="1655064" cy="201168"/>
          </a:xfrm>
          <a:prstGeom prst="roundRect">
            <a:avLst>
              <a:gd name="adj" fmla="val 18182"/>
            </a:avLst>
          </a:prstGeom>
          <a:solidFill>
            <a:srgbClr val="8B4513"/>
          </a:solidFill>
          <a:ln/>
        </p:spPr>
      </p:sp>
      <p:sp>
        <p:nvSpPr>
          <p:cNvPr id="17" name="Shape 15"/>
          <p:cNvSpPr/>
          <p:nvPr/>
        </p:nvSpPr>
        <p:spPr>
          <a:xfrm>
            <a:off x="5266944" y="2240280"/>
            <a:ext cx="1655064" cy="1190549"/>
          </a:xfrm>
          <a:prstGeom prst="roundRect">
            <a:avLst>
              <a:gd name="adj" fmla="val 3072"/>
            </a:avLst>
          </a:prstGeom>
          <a:solidFill>
            <a:srgbClr val="E3D9C6"/>
          </a:solidFill>
          <a:ln/>
        </p:spPr>
      </p:sp>
      <p:sp>
        <p:nvSpPr>
          <p:cNvPr id="18" name="Shape 16"/>
          <p:cNvSpPr/>
          <p:nvPr/>
        </p:nvSpPr>
        <p:spPr>
          <a:xfrm>
            <a:off x="5266944" y="4087368"/>
            <a:ext cx="1241298" cy="109728"/>
          </a:xfrm>
          <a:prstGeom prst="rect">
            <a:avLst/>
          </a:prstGeom>
          <a:solidFill>
            <a:srgbClr val="DFD4C0"/>
          </a:solidFill>
          <a:ln/>
        </p:spPr>
      </p:sp>
      <p:sp>
        <p:nvSpPr>
          <p:cNvPr id="19" name="Shape 17"/>
          <p:cNvSpPr/>
          <p:nvPr/>
        </p:nvSpPr>
        <p:spPr>
          <a:xfrm>
            <a:off x="5266944" y="4270248"/>
            <a:ext cx="827532" cy="109728"/>
          </a:xfrm>
          <a:prstGeom prst="rect">
            <a:avLst/>
          </a:prstGeom>
          <a:solidFill>
            <a:srgbClr val="DFD4C0"/>
          </a:solidFill>
          <a:ln/>
        </p:spPr>
      </p:sp>
      <p:sp>
        <p:nvSpPr>
          <p:cNvPr id="20" name="Text 18"/>
          <p:cNvSpPr/>
          <p:nvPr/>
        </p:nvSpPr>
        <p:spPr>
          <a:xfrm>
            <a:off x="5065776" y="4690872"/>
            <a:ext cx="2057400" cy="274320"/>
          </a:xfrm>
          <a:prstGeom prst="rect">
            <a:avLst/>
          </a:prstGeom>
          <a:noFill/>
          <a:ln/>
        </p:spPr>
        <p:txBody>
          <a:bodyPr wrap="square" lIns="0" tIns="0" rIns="0" bIns="0" rtlCol="0" anchor="ctr"/>
          <a:lstStyle/>
          <a:p>
            <a:pPr algn="ctr" indent="0" marL="0">
              <a:buNone/>
            </a:pPr>
            <a:r>
              <a:rPr lang="en-US" sz="1200" dirty="0">
                <a:solidFill>
                  <a:srgbClr val="262320"/>
                </a:solidFill>
                <a:latin typeface="Calibri" pitchFamily="34" charset="0"/>
                <a:ea typeface="Calibri" pitchFamily="34" charset="-122"/>
                <a:cs typeface="Calibri" pitchFamily="34" charset="-120"/>
              </a:rPr>
              <a:t>Fiche produit</a:t>
            </a:r>
            <a:endParaRPr lang="en-US" sz="1200" dirty="0"/>
          </a:p>
        </p:txBody>
      </p:sp>
      <p:sp>
        <p:nvSpPr>
          <p:cNvPr id="21" name="Shape 19"/>
          <p:cNvSpPr/>
          <p:nvPr/>
        </p:nvSpPr>
        <p:spPr>
          <a:xfrm>
            <a:off x="7397496" y="1783080"/>
            <a:ext cx="1874520" cy="2834640"/>
          </a:xfrm>
          <a:prstGeom prst="roundRect">
            <a:avLst>
              <a:gd name="adj" fmla="val 3902"/>
            </a:avLst>
          </a:prstGeom>
          <a:solidFill>
            <a:srgbClr val="F7F4EF"/>
          </a:solidFill>
          <a:ln w="12700">
            <a:solidFill>
              <a:srgbClr val="D8CBB6"/>
            </a:solidFill>
            <a:prstDash val="solid"/>
          </a:ln>
          <a:effectLst>
            <a:outerShdw sx="100000" sy="100000" kx="0" ky="0" algn="bl" rotWithShape="0" blurRad="76200" dist="25400" dir="5400000">
              <a:srgbClr val="000000">
                <a:alpha val="12000"/>
              </a:srgbClr>
            </a:outerShdw>
          </a:effectLst>
        </p:spPr>
      </p:sp>
      <p:sp>
        <p:nvSpPr>
          <p:cNvPr id="22" name="Shape 20"/>
          <p:cNvSpPr/>
          <p:nvPr/>
        </p:nvSpPr>
        <p:spPr>
          <a:xfrm>
            <a:off x="7507224" y="1911096"/>
            <a:ext cx="1655064" cy="201168"/>
          </a:xfrm>
          <a:prstGeom prst="roundRect">
            <a:avLst>
              <a:gd name="adj" fmla="val 18182"/>
            </a:avLst>
          </a:prstGeom>
          <a:solidFill>
            <a:srgbClr val="8B4513"/>
          </a:solidFill>
          <a:ln/>
        </p:spPr>
      </p:sp>
      <p:sp>
        <p:nvSpPr>
          <p:cNvPr id="23" name="Shape 21"/>
          <p:cNvSpPr/>
          <p:nvPr/>
        </p:nvSpPr>
        <p:spPr>
          <a:xfrm>
            <a:off x="7507224" y="2240280"/>
            <a:ext cx="1655064" cy="1190549"/>
          </a:xfrm>
          <a:prstGeom prst="roundRect">
            <a:avLst>
              <a:gd name="adj" fmla="val 3072"/>
            </a:avLst>
          </a:prstGeom>
          <a:solidFill>
            <a:srgbClr val="E3D9C6"/>
          </a:solidFill>
          <a:ln/>
        </p:spPr>
      </p:sp>
      <p:sp>
        <p:nvSpPr>
          <p:cNvPr id="24" name="Shape 22"/>
          <p:cNvSpPr/>
          <p:nvPr/>
        </p:nvSpPr>
        <p:spPr>
          <a:xfrm>
            <a:off x="7507224" y="4087368"/>
            <a:ext cx="1241298" cy="109728"/>
          </a:xfrm>
          <a:prstGeom prst="rect">
            <a:avLst/>
          </a:prstGeom>
          <a:solidFill>
            <a:srgbClr val="DFD4C0"/>
          </a:solidFill>
          <a:ln/>
        </p:spPr>
      </p:sp>
      <p:sp>
        <p:nvSpPr>
          <p:cNvPr id="25" name="Shape 23"/>
          <p:cNvSpPr/>
          <p:nvPr/>
        </p:nvSpPr>
        <p:spPr>
          <a:xfrm>
            <a:off x="7507224" y="4270248"/>
            <a:ext cx="827532" cy="109728"/>
          </a:xfrm>
          <a:prstGeom prst="rect">
            <a:avLst/>
          </a:prstGeom>
          <a:solidFill>
            <a:srgbClr val="DFD4C0"/>
          </a:solidFill>
          <a:ln/>
        </p:spPr>
      </p:sp>
      <p:sp>
        <p:nvSpPr>
          <p:cNvPr id="26" name="Text 24"/>
          <p:cNvSpPr/>
          <p:nvPr/>
        </p:nvSpPr>
        <p:spPr>
          <a:xfrm>
            <a:off x="7306056" y="4690872"/>
            <a:ext cx="2057400" cy="274320"/>
          </a:xfrm>
          <a:prstGeom prst="rect">
            <a:avLst/>
          </a:prstGeom>
          <a:noFill/>
          <a:ln/>
        </p:spPr>
        <p:txBody>
          <a:bodyPr wrap="square" lIns="0" tIns="0" rIns="0" bIns="0" rtlCol="0" anchor="ctr"/>
          <a:lstStyle/>
          <a:p>
            <a:pPr algn="ctr" indent="0" marL="0">
              <a:buNone/>
            </a:pPr>
            <a:r>
              <a:rPr lang="en-US" sz="1200" dirty="0">
                <a:solidFill>
                  <a:srgbClr val="262320"/>
                </a:solidFill>
                <a:latin typeface="Calibri" pitchFamily="34" charset="0"/>
                <a:ea typeface="Calibri" pitchFamily="34" charset="-122"/>
                <a:cs typeface="Calibri" pitchFamily="34" charset="-120"/>
              </a:rPr>
              <a:t>Panier</a:t>
            </a:r>
            <a:endParaRPr lang="en-US" sz="1200" dirty="0"/>
          </a:p>
        </p:txBody>
      </p:sp>
      <p:sp>
        <p:nvSpPr>
          <p:cNvPr id="27" name="Shape 25"/>
          <p:cNvSpPr/>
          <p:nvPr/>
        </p:nvSpPr>
        <p:spPr>
          <a:xfrm>
            <a:off x="9637776" y="1783080"/>
            <a:ext cx="1874520" cy="2834640"/>
          </a:xfrm>
          <a:prstGeom prst="roundRect">
            <a:avLst>
              <a:gd name="adj" fmla="val 3902"/>
            </a:avLst>
          </a:prstGeom>
          <a:solidFill>
            <a:srgbClr val="F7F4EF"/>
          </a:solidFill>
          <a:ln w="12700">
            <a:solidFill>
              <a:srgbClr val="D8CBB6"/>
            </a:solidFill>
            <a:prstDash val="solid"/>
          </a:ln>
          <a:effectLst>
            <a:outerShdw sx="100000" sy="100000" kx="0" ky="0" algn="bl" rotWithShape="0" blurRad="76200" dist="25400" dir="5400000">
              <a:srgbClr val="000000">
                <a:alpha val="12000"/>
              </a:srgbClr>
            </a:outerShdw>
          </a:effectLst>
        </p:spPr>
      </p:sp>
      <p:sp>
        <p:nvSpPr>
          <p:cNvPr id="28" name="Shape 26"/>
          <p:cNvSpPr/>
          <p:nvPr/>
        </p:nvSpPr>
        <p:spPr>
          <a:xfrm>
            <a:off x="9747504" y="1911096"/>
            <a:ext cx="1655064" cy="201168"/>
          </a:xfrm>
          <a:prstGeom prst="roundRect">
            <a:avLst>
              <a:gd name="adj" fmla="val 18182"/>
            </a:avLst>
          </a:prstGeom>
          <a:solidFill>
            <a:srgbClr val="8B4513"/>
          </a:solidFill>
          <a:ln/>
        </p:spPr>
      </p:sp>
      <p:sp>
        <p:nvSpPr>
          <p:cNvPr id="29" name="Shape 27"/>
          <p:cNvSpPr/>
          <p:nvPr/>
        </p:nvSpPr>
        <p:spPr>
          <a:xfrm>
            <a:off x="9747504" y="2240280"/>
            <a:ext cx="1655064" cy="1190549"/>
          </a:xfrm>
          <a:prstGeom prst="roundRect">
            <a:avLst>
              <a:gd name="adj" fmla="val 3072"/>
            </a:avLst>
          </a:prstGeom>
          <a:solidFill>
            <a:srgbClr val="E3D9C6"/>
          </a:solidFill>
          <a:ln/>
        </p:spPr>
      </p:sp>
      <p:sp>
        <p:nvSpPr>
          <p:cNvPr id="30" name="Shape 28"/>
          <p:cNvSpPr/>
          <p:nvPr/>
        </p:nvSpPr>
        <p:spPr>
          <a:xfrm>
            <a:off x="9747504" y="4087368"/>
            <a:ext cx="1241298" cy="109728"/>
          </a:xfrm>
          <a:prstGeom prst="rect">
            <a:avLst/>
          </a:prstGeom>
          <a:solidFill>
            <a:srgbClr val="DFD4C0"/>
          </a:solidFill>
          <a:ln/>
        </p:spPr>
      </p:sp>
      <p:sp>
        <p:nvSpPr>
          <p:cNvPr id="31" name="Shape 29"/>
          <p:cNvSpPr/>
          <p:nvPr/>
        </p:nvSpPr>
        <p:spPr>
          <a:xfrm>
            <a:off x="9747504" y="4270248"/>
            <a:ext cx="827532" cy="109728"/>
          </a:xfrm>
          <a:prstGeom prst="rect">
            <a:avLst/>
          </a:prstGeom>
          <a:solidFill>
            <a:srgbClr val="DFD4C0"/>
          </a:solidFill>
          <a:ln/>
        </p:spPr>
      </p:sp>
      <p:sp>
        <p:nvSpPr>
          <p:cNvPr id="32" name="Text 30"/>
          <p:cNvSpPr/>
          <p:nvPr/>
        </p:nvSpPr>
        <p:spPr>
          <a:xfrm>
            <a:off x="9546336" y="4690872"/>
            <a:ext cx="2057400" cy="274320"/>
          </a:xfrm>
          <a:prstGeom prst="rect">
            <a:avLst/>
          </a:prstGeom>
          <a:noFill/>
          <a:ln/>
        </p:spPr>
        <p:txBody>
          <a:bodyPr wrap="square" lIns="0" tIns="0" rIns="0" bIns="0" rtlCol="0" anchor="ctr"/>
          <a:lstStyle/>
          <a:p>
            <a:pPr algn="ctr" indent="0" marL="0">
              <a:buNone/>
            </a:pPr>
            <a:r>
              <a:rPr lang="en-US" sz="1200" dirty="0">
                <a:solidFill>
                  <a:srgbClr val="262320"/>
                </a:solidFill>
                <a:latin typeface="Calibri" pitchFamily="34" charset="0"/>
                <a:ea typeface="Calibri" pitchFamily="34" charset="-122"/>
                <a:cs typeface="Calibri" pitchFamily="34" charset="-120"/>
              </a:rPr>
              <a:t>Dashboard vendeur</a:t>
            </a:r>
            <a:endParaRPr lang="en-US" sz="1200" dirty="0"/>
          </a:p>
        </p:txBody>
      </p:sp>
      <p:sp>
        <p:nvSpPr>
          <p:cNvPr id="33" name="Shape 31"/>
          <p:cNvSpPr/>
          <p:nvPr/>
        </p:nvSpPr>
        <p:spPr>
          <a:xfrm>
            <a:off x="640080" y="5257800"/>
            <a:ext cx="10835640" cy="868680"/>
          </a:xfrm>
          <a:prstGeom prst="roundRect">
            <a:avLst>
              <a:gd name="adj" fmla="val 10526"/>
            </a:avLst>
          </a:prstGeom>
          <a:solidFill>
            <a:srgbClr val="F5EFE8"/>
          </a:solidFill>
          <a:ln w="12700">
            <a:solidFill>
              <a:srgbClr val="8B4513"/>
            </a:solidFill>
            <a:prstDash val="solid"/>
          </a:ln>
          <a:effectLst>
            <a:outerShdw sx="100000" sy="100000" kx="0" ky="0" algn="bl" rotWithShape="0" blurRad="76200" dist="25400" dir="5400000">
              <a:srgbClr val="000000">
                <a:alpha val="12000"/>
              </a:srgbClr>
            </a:outerShdw>
          </a:effectLst>
        </p:spPr>
      </p:sp>
      <p:sp>
        <p:nvSpPr>
          <p:cNvPr id="34" name="Text 32"/>
          <p:cNvSpPr/>
          <p:nvPr/>
        </p:nvSpPr>
        <p:spPr>
          <a:xfrm>
            <a:off x="914400" y="5349240"/>
            <a:ext cx="10332720" cy="685800"/>
          </a:xfrm>
          <a:prstGeom prst="rect">
            <a:avLst/>
          </a:prstGeom>
          <a:noFill/>
          <a:ln/>
        </p:spPr>
        <p:txBody>
          <a:bodyPr wrap="square" lIns="0" tIns="0" rIns="0" bIns="0" rtlCol="0" anchor="ctr"/>
          <a:lstStyle/>
          <a:p>
            <a:pPr indent="0" marL="0">
              <a:lnSpc>
                <a:spcPct val="110000"/>
              </a:lnSpc>
              <a:buNone/>
            </a:pPr>
            <a:r>
              <a:rPr lang="en-US" sz="1350" b="1" dirty="0">
                <a:solidFill>
                  <a:srgbClr val="8B4513"/>
                </a:solidFill>
                <a:latin typeface="Calibri" pitchFamily="34" charset="0"/>
                <a:ea typeface="Calibri" pitchFamily="34" charset="-122"/>
                <a:cs typeface="Calibri" pitchFamily="34" charset="-120"/>
              </a:rPr>
              <a:t>14 écrans maquettés sous Figma </a:t>
            </a:r>
            <a:pPr indent="0" marL="0">
              <a:lnSpc>
                <a:spcPct val="110000"/>
              </a:lnSpc>
              <a:buNone/>
            </a:pPr>
            <a:r>
              <a:rPr lang="en-US" sz="1350" dirty="0">
                <a:solidFill>
                  <a:srgbClr val="262320"/>
                </a:solidFill>
                <a:latin typeface="Calibri" pitchFamily="34" charset="0"/>
                <a:ea typeface="Calibri" pitchFamily="34" charset="-122"/>
                <a:cs typeface="Calibri" pitchFamily="34" charset="-120"/>
              </a:rPr>
              <a:t>· desktop &amp; mobile · identité visuelle « terre &amp; olive » — ces maquettes ont servi de contrat visuel pendant tout le développement.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algn="l" indent="0" marL="0">
              <a:buNone/>
            </a:pPr>
            <a:r>
              <a:rPr lang="en-US" sz="3200" b="1" dirty="0">
                <a:solidFill>
                  <a:srgbClr val="8B4513"/>
                </a:solidFill>
                <a:latin typeface="Cambria" pitchFamily="34" charset="0"/>
                <a:ea typeface="Cambria" pitchFamily="34" charset="-122"/>
                <a:cs typeface="Cambria" pitchFamily="34" charset="-120"/>
              </a:rPr>
              <a:t>Choix techniques &amp; architecture</a:t>
            </a:r>
            <a:endParaRPr lang="en-US" sz="3200" dirty="0"/>
          </a:p>
        </p:txBody>
      </p:sp>
      <p:sp>
        <p:nvSpPr>
          <p:cNvPr id="3" name="Shape 1"/>
          <p:cNvSpPr/>
          <p:nvPr/>
        </p:nvSpPr>
        <p:spPr>
          <a:xfrm>
            <a:off x="640080" y="1600200"/>
            <a:ext cx="3429000" cy="2286000"/>
          </a:xfrm>
          <a:prstGeom prst="roundRect">
            <a:avLst>
              <a:gd name="adj" fmla="val 4000"/>
            </a:avLst>
          </a:prstGeom>
          <a:solidFill>
            <a:srgbClr val="F7F4EF"/>
          </a:solidFill>
          <a:ln w="12700">
            <a:solidFill>
              <a:srgbClr val="6B7C3F"/>
            </a:solidFill>
            <a:prstDash val="solid"/>
          </a:ln>
          <a:effectLst>
            <a:outerShdw sx="100000" sy="100000" kx="0" ky="0" algn="bl" rotWithShape="0" blurRad="76200" dist="25400" dir="5400000">
              <a:srgbClr val="000000">
                <a:alpha val="12000"/>
              </a:srgbClr>
            </a:outerShdw>
          </a:effectLst>
        </p:spPr>
      </p:sp>
      <p:sp>
        <p:nvSpPr>
          <p:cNvPr id="4" name="Text 2"/>
          <p:cNvSpPr/>
          <p:nvPr/>
        </p:nvSpPr>
        <p:spPr>
          <a:xfrm>
            <a:off x="640080" y="1828800"/>
            <a:ext cx="3429000" cy="457200"/>
          </a:xfrm>
          <a:prstGeom prst="rect">
            <a:avLst/>
          </a:prstGeom>
          <a:noFill/>
          <a:ln/>
        </p:spPr>
        <p:txBody>
          <a:bodyPr wrap="square" lIns="0" tIns="0" rIns="0" bIns="0" rtlCol="0" anchor="ctr"/>
          <a:lstStyle/>
          <a:p>
            <a:pPr algn="ctr" indent="0" marL="0">
              <a:buNone/>
            </a:pPr>
            <a:r>
              <a:rPr lang="en-US" sz="1700" b="1" dirty="0">
                <a:solidFill>
                  <a:srgbClr val="6B7C3F"/>
                </a:solidFill>
                <a:latin typeface="Cambria" pitchFamily="34" charset="0"/>
                <a:ea typeface="Cambria" pitchFamily="34" charset="-122"/>
                <a:cs typeface="Cambria" pitchFamily="34" charset="-120"/>
              </a:rPr>
              <a:t>Présentation</a:t>
            </a:r>
            <a:endParaRPr lang="en-US" sz="1700" dirty="0"/>
          </a:p>
        </p:txBody>
      </p:sp>
      <p:sp>
        <p:nvSpPr>
          <p:cNvPr id="5" name="Text 3"/>
          <p:cNvSpPr/>
          <p:nvPr/>
        </p:nvSpPr>
        <p:spPr>
          <a:xfrm>
            <a:off x="960120" y="2468880"/>
            <a:ext cx="2834640" cy="12801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6E695E"/>
                </a:solidFill>
                <a:latin typeface="Calibri" pitchFamily="34" charset="0"/>
                <a:ea typeface="Calibri" pitchFamily="34" charset="-122"/>
                <a:cs typeface="Calibri" pitchFamily="34" charset="-120"/>
              </a:rPr>
              <a:t>Web — React 18 + Tailwind</a:t>
            </a:r>
            <a:endParaRPr lang="en-US" sz="1250" dirty="0"/>
          </a:p>
          <a:p>
            <a:pPr marL="177800" indent="-177800">
              <a:spcAft>
                <a:spcPts val="600"/>
              </a:spcAft>
              <a:buSzPct val="100000"/>
              <a:buChar char="•"/>
            </a:pPr>
            <a:r>
              <a:rPr lang="en-US" sz="1250" dirty="0">
                <a:solidFill>
                  <a:srgbClr val="6E695E"/>
                </a:solidFill>
                <a:latin typeface="Calibri" pitchFamily="34" charset="0"/>
                <a:ea typeface="Calibri" pitchFamily="34" charset="-122"/>
                <a:cs typeface="Calibri" pitchFamily="34" charset="-120"/>
              </a:rPr>
              <a:t>Mobile — React Native 0.74</a:t>
            </a:r>
            <a:endParaRPr lang="en-US" sz="1250" dirty="0"/>
          </a:p>
        </p:txBody>
      </p:sp>
      <p:sp>
        <p:nvSpPr>
          <p:cNvPr id="6" name="Text 4"/>
          <p:cNvSpPr/>
          <p:nvPr/>
        </p:nvSpPr>
        <p:spPr>
          <a:xfrm>
            <a:off x="4069080" y="1600200"/>
            <a:ext cx="457200" cy="2286000"/>
          </a:xfrm>
          <a:prstGeom prst="rect">
            <a:avLst/>
          </a:prstGeom>
          <a:noFill/>
          <a:ln/>
        </p:spPr>
        <p:txBody>
          <a:bodyPr wrap="square" lIns="0" tIns="0" rIns="0" bIns="0" rtlCol="0" anchor="ctr"/>
          <a:lstStyle/>
          <a:p>
            <a:pPr algn="ctr" indent="0" marL="0">
              <a:buNone/>
            </a:pPr>
            <a:r>
              <a:rPr lang="en-US" sz="2600" b="1" dirty="0">
                <a:solidFill>
                  <a:srgbClr val="8B4513"/>
                </a:solidFill>
                <a:latin typeface="Calibri" pitchFamily="34" charset="0"/>
                <a:ea typeface="Calibri" pitchFamily="34" charset="-122"/>
                <a:cs typeface="Calibri" pitchFamily="34" charset="-120"/>
              </a:rPr>
              <a:t>→</a:t>
            </a:r>
            <a:endParaRPr lang="en-US" sz="2600" dirty="0"/>
          </a:p>
        </p:txBody>
      </p:sp>
      <p:sp>
        <p:nvSpPr>
          <p:cNvPr id="7" name="Shape 5"/>
          <p:cNvSpPr/>
          <p:nvPr/>
        </p:nvSpPr>
        <p:spPr>
          <a:xfrm>
            <a:off x="4526280" y="1600200"/>
            <a:ext cx="3429000" cy="2286000"/>
          </a:xfrm>
          <a:prstGeom prst="roundRect">
            <a:avLst>
              <a:gd name="adj" fmla="val 4000"/>
            </a:avLst>
          </a:prstGeom>
          <a:solidFill>
            <a:srgbClr val="F7F4EF"/>
          </a:solidFill>
          <a:ln w="12700">
            <a:solidFill>
              <a:srgbClr val="8B4513"/>
            </a:solidFill>
            <a:prstDash val="solid"/>
          </a:ln>
          <a:effectLst>
            <a:outerShdw sx="100000" sy="100000" kx="0" ky="0" algn="bl" rotWithShape="0" blurRad="76200" dist="25400" dir="5400000">
              <a:srgbClr val="000000">
                <a:alpha val="12000"/>
              </a:srgbClr>
            </a:outerShdw>
          </a:effectLst>
        </p:spPr>
      </p:sp>
      <p:sp>
        <p:nvSpPr>
          <p:cNvPr id="8" name="Text 6"/>
          <p:cNvSpPr/>
          <p:nvPr/>
        </p:nvSpPr>
        <p:spPr>
          <a:xfrm>
            <a:off x="4526280" y="1828800"/>
            <a:ext cx="3429000" cy="457200"/>
          </a:xfrm>
          <a:prstGeom prst="rect">
            <a:avLst/>
          </a:prstGeom>
          <a:noFill/>
          <a:ln/>
        </p:spPr>
        <p:txBody>
          <a:bodyPr wrap="square" lIns="0" tIns="0" rIns="0" bIns="0" rtlCol="0" anchor="ctr"/>
          <a:lstStyle/>
          <a:p>
            <a:pPr algn="ctr" indent="0" marL="0">
              <a:buNone/>
            </a:pPr>
            <a:r>
              <a:rPr lang="en-US" sz="1700" b="1" dirty="0">
                <a:solidFill>
                  <a:srgbClr val="8B4513"/>
                </a:solidFill>
                <a:latin typeface="Cambria" pitchFamily="34" charset="0"/>
                <a:ea typeface="Cambria" pitchFamily="34" charset="-122"/>
                <a:cs typeface="Cambria" pitchFamily="34" charset="-120"/>
              </a:rPr>
              <a:t>API — Laravel 11</a:t>
            </a:r>
            <a:endParaRPr lang="en-US" sz="1700" dirty="0"/>
          </a:p>
        </p:txBody>
      </p:sp>
      <p:sp>
        <p:nvSpPr>
          <p:cNvPr id="9" name="Text 7"/>
          <p:cNvSpPr/>
          <p:nvPr/>
        </p:nvSpPr>
        <p:spPr>
          <a:xfrm>
            <a:off x="4846320" y="2468880"/>
            <a:ext cx="2834640" cy="12801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6E695E"/>
                </a:solidFill>
                <a:latin typeface="Calibri" pitchFamily="34" charset="0"/>
                <a:ea typeface="Calibri" pitchFamily="34" charset="-122"/>
                <a:cs typeface="Calibri" pitchFamily="34" charset="-120"/>
              </a:rPr>
              <a:t>Eloquent · JWT · middlewares rôles</a:t>
            </a:r>
            <a:endParaRPr lang="en-US" sz="1250" dirty="0"/>
          </a:p>
          <a:p>
            <a:pPr marL="177800" indent="-177800">
              <a:spcAft>
                <a:spcPts val="600"/>
              </a:spcAft>
              <a:buSzPct val="100000"/>
              <a:buChar char="•"/>
            </a:pPr>
            <a:r>
              <a:rPr lang="en-US" sz="1250" dirty="0">
                <a:solidFill>
                  <a:srgbClr val="6E695E"/>
                </a:solidFill>
                <a:latin typeface="Calibri" pitchFamily="34" charset="0"/>
                <a:ea typeface="Calibri" pitchFamily="34" charset="-122"/>
                <a:cs typeface="Calibri" pitchFamily="34" charset="-120"/>
              </a:rPr>
              <a:t>OpenAPI 3.0 + Swagger UI</a:t>
            </a:r>
            <a:endParaRPr lang="en-US" sz="1250" dirty="0"/>
          </a:p>
        </p:txBody>
      </p:sp>
      <p:sp>
        <p:nvSpPr>
          <p:cNvPr id="10" name="Text 8"/>
          <p:cNvSpPr/>
          <p:nvPr/>
        </p:nvSpPr>
        <p:spPr>
          <a:xfrm>
            <a:off x="7955280" y="1600200"/>
            <a:ext cx="457200" cy="2286000"/>
          </a:xfrm>
          <a:prstGeom prst="rect">
            <a:avLst/>
          </a:prstGeom>
          <a:noFill/>
          <a:ln/>
        </p:spPr>
        <p:txBody>
          <a:bodyPr wrap="square" lIns="0" tIns="0" rIns="0" bIns="0" rtlCol="0" anchor="ctr"/>
          <a:lstStyle/>
          <a:p>
            <a:pPr algn="ctr" indent="0" marL="0">
              <a:buNone/>
            </a:pPr>
            <a:r>
              <a:rPr lang="en-US" sz="2600" b="1" dirty="0">
                <a:solidFill>
                  <a:srgbClr val="8B4513"/>
                </a:solidFill>
                <a:latin typeface="Calibri" pitchFamily="34" charset="0"/>
                <a:ea typeface="Calibri" pitchFamily="34" charset="-122"/>
                <a:cs typeface="Calibri" pitchFamily="34" charset="-120"/>
              </a:rPr>
              <a:t>→</a:t>
            </a:r>
            <a:endParaRPr lang="en-US" sz="2600" dirty="0"/>
          </a:p>
        </p:txBody>
      </p:sp>
      <p:sp>
        <p:nvSpPr>
          <p:cNvPr id="11" name="Shape 9"/>
          <p:cNvSpPr/>
          <p:nvPr/>
        </p:nvSpPr>
        <p:spPr>
          <a:xfrm>
            <a:off x="8412480" y="1600200"/>
            <a:ext cx="3429000" cy="2286000"/>
          </a:xfrm>
          <a:prstGeom prst="roundRect">
            <a:avLst>
              <a:gd name="adj" fmla="val 4000"/>
            </a:avLst>
          </a:prstGeom>
          <a:solidFill>
            <a:srgbClr val="F7F4EF"/>
          </a:solidFill>
          <a:ln w="12700">
            <a:solidFill>
              <a:srgbClr val="262320"/>
            </a:solidFill>
            <a:prstDash val="solid"/>
          </a:ln>
          <a:effectLst>
            <a:outerShdw sx="100000" sy="100000" kx="0" ky="0" algn="bl" rotWithShape="0" blurRad="76200" dist="25400" dir="5400000">
              <a:srgbClr val="000000">
                <a:alpha val="12000"/>
              </a:srgbClr>
            </a:outerShdw>
          </a:effectLst>
        </p:spPr>
      </p:sp>
      <p:sp>
        <p:nvSpPr>
          <p:cNvPr id="12" name="Text 10"/>
          <p:cNvSpPr/>
          <p:nvPr/>
        </p:nvSpPr>
        <p:spPr>
          <a:xfrm>
            <a:off x="8412480" y="1828800"/>
            <a:ext cx="3429000" cy="457200"/>
          </a:xfrm>
          <a:prstGeom prst="rect">
            <a:avLst/>
          </a:prstGeom>
          <a:noFill/>
          <a:ln/>
        </p:spPr>
        <p:txBody>
          <a:bodyPr wrap="square" lIns="0" tIns="0" rIns="0" bIns="0" rtlCol="0" anchor="ctr"/>
          <a:lstStyle/>
          <a:p>
            <a:pPr algn="ctr" indent="0" marL="0">
              <a:buNone/>
            </a:pPr>
            <a:r>
              <a:rPr lang="en-US" sz="1700" b="1" dirty="0">
                <a:solidFill>
                  <a:srgbClr val="262320"/>
                </a:solidFill>
                <a:latin typeface="Cambria" pitchFamily="34" charset="0"/>
                <a:ea typeface="Cambria" pitchFamily="34" charset="-122"/>
                <a:cs typeface="Cambria" pitchFamily="34" charset="-120"/>
              </a:rPr>
              <a:t>Données — MySQL 8</a:t>
            </a:r>
            <a:endParaRPr lang="en-US" sz="1700" dirty="0"/>
          </a:p>
        </p:txBody>
      </p:sp>
      <p:sp>
        <p:nvSpPr>
          <p:cNvPr id="13" name="Text 11"/>
          <p:cNvSpPr/>
          <p:nvPr/>
        </p:nvSpPr>
        <p:spPr>
          <a:xfrm>
            <a:off x="8732520" y="2468880"/>
            <a:ext cx="2834640" cy="12801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6E695E"/>
                </a:solidFill>
                <a:latin typeface="Calibri" pitchFamily="34" charset="0"/>
                <a:ea typeface="Calibri" pitchFamily="34" charset="-122"/>
                <a:cs typeface="Calibri" pitchFamily="34" charset="-120"/>
              </a:rPr>
              <a:t>Transactions · verrous de stock</a:t>
            </a:r>
            <a:endParaRPr lang="en-US" sz="1250" dirty="0"/>
          </a:p>
          <a:p>
            <a:pPr marL="177800" indent="-177800">
              <a:spcAft>
                <a:spcPts val="600"/>
              </a:spcAft>
              <a:buSzPct val="100000"/>
              <a:buChar char="•"/>
            </a:pPr>
            <a:r>
              <a:rPr lang="en-US" sz="1250" dirty="0">
                <a:solidFill>
                  <a:srgbClr val="6E695E"/>
                </a:solidFill>
                <a:latin typeface="Calibri" pitchFamily="34" charset="0"/>
                <a:ea typeface="Calibri" pitchFamily="34" charset="-122"/>
                <a:cs typeface="Calibri" pitchFamily="34" charset="-120"/>
              </a:rPr>
              <a:t>Triggers · procédure J+14</a:t>
            </a:r>
            <a:endParaRPr lang="en-US" sz="1250" dirty="0"/>
          </a:p>
        </p:txBody>
      </p:sp>
      <p:sp>
        <p:nvSpPr>
          <p:cNvPr id="14" name="Shape 12"/>
          <p:cNvSpPr/>
          <p:nvPr/>
        </p:nvSpPr>
        <p:spPr>
          <a:xfrm>
            <a:off x="640080" y="4297680"/>
            <a:ext cx="10881360" cy="1234440"/>
          </a:xfrm>
          <a:prstGeom prst="roundRect">
            <a:avLst>
              <a:gd name="adj" fmla="val 7407"/>
            </a:avLst>
          </a:prstGeom>
          <a:solidFill>
            <a:srgbClr val="F5EFE8"/>
          </a:solidFill>
          <a:ln w="12700">
            <a:solidFill>
              <a:srgbClr val="8B4513"/>
            </a:solidFill>
            <a:prstDash val="solid"/>
          </a:ln>
          <a:effectLst>
            <a:outerShdw sx="100000" sy="100000" kx="0" ky="0" algn="bl" rotWithShape="0" blurRad="76200" dist="25400" dir="5400000">
              <a:srgbClr val="000000">
                <a:alpha val="12000"/>
              </a:srgbClr>
            </a:outerShdw>
          </a:effectLst>
        </p:spPr>
      </p:sp>
      <p:sp>
        <p:nvSpPr>
          <p:cNvPr id="15" name="Text 13"/>
          <p:cNvSpPr/>
          <p:nvPr/>
        </p:nvSpPr>
        <p:spPr>
          <a:xfrm>
            <a:off x="914400" y="4434840"/>
            <a:ext cx="10332720" cy="960120"/>
          </a:xfrm>
          <a:prstGeom prst="rect">
            <a:avLst/>
          </a:prstGeom>
          <a:noFill/>
          <a:ln/>
        </p:spPr>
        <p:txBody>
          <a:bodyPr wrap="square" lIns="0" tIns="0" rIns="0" bIns="0" rtlCol="0" anchor="ctr"/>
          <a:lstStyle/>
          <a:p>
            <a:pPr indent="0" marL="0">
              <a:lnSpc>
                <a:spcPct val="110000"/>
              </a:lnSpc>
              <a:buNone/>
            </a:pPr>
            <a:r>
              <a:rPr lang="en-US" sz="1450" b="1" dirty="0">
                <a:solidFill>
                  <a:srgbClr val="8B4513"/>
                </a:solidFill>
                <a:latin typeface="Calibri" pitchFamily="34" charset="0"/>
                <a:ea typeface="Calibri" pitchFamily="34" charset="-122"/>
                <a:cs typeface="Calibri" pitchFamily="34" charset="-120"/>
              </a:rPr>
              <a:t>Le projet a évolué : </a:t>
            </a:r>
            <a:pPr indent="0" marL="0">
              <a:lnSpc>
                <a:spcPct val="110000"/>
              </a:lnSpc>
              <a:buNone/>
            </a:pPr>
            <a:r>
              <a:rPr lang="en-US" sz="1450" dirty="0">
                <a:solidFill>
                  <a:srgbClr val="262320"/>
                </a:solidFill>
                <a:latin typeface="Calibri" pitchFamily="34" charset="0"/>
                <a:ea typeface="Calibri" pitchFamily="34" charset="-122"/>
                <a:cs typeface="Calibri" pitchFamily="34" charset="-120"/>
              </a:rPr>
              <a:t>d’un MVC PHP écrit à la main (v1) vers Laravel 11 + Eloquent (v2), pour se conformer au cahier des charges (ORM exigé) et gagner en robustesse — migrations, validation, sécurité. Une seule API REST documentée alimente le web et le mobile.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algn="l" indent="0" marL="0">
              <a:buNone/>
            </a:pPr>
            <a:r>
              <a:rPr lang="en-US" sz="3200" b="1" dirty="0">
                <a:solidFill>
                  <a:srgbClr val="7E22CE"/>
                </a:solidFill>
                <a:latin typeface="Cambria" pitchFamily="34" charset="0"/>
                <a:ea typeface="Cambria" pitchFamily="34" charset="-122"/>
                <a:cs typeface="Cambria" pitchFamily="34" charset="-120"/>
              </a:rPr>
              <a:t>Module IA — recommandation personnalisée</a:t>
            </a:r>
            <a:endParaRPr lang="en-US" sz="3200" dirty="0"/>
          </a:p>
        </p:txBody>
      </p:sp>
      <p:sp>
        <p:nvSpPr>
          <p:cNvPr id="3" name="Text 1"/>
          <p:cNvSpPr/>
          <p:nvPr/>
        </p:nvSpPr>
        <p:spPr>
          <a:xfrm>
            <a:off x="640080" y="1417320"/>
            <a:ext cx="5029200" cy="365760"/>
          </a:xfrm>
          <a:prstGeom prst="rect">
            <a:avLst/>
          </a:prstGeom>
          <a:noFill/>
          <a:ln/>
        </p:spPr>
        <p:txBody>
          <a:bodyPr wrap="square" lIns="0" tIns="0" rIns="0" bIns="0" rtlCol="0" anchor="ctr"/>
          <a:lstStyle/>
          <a:p>
            <a:pPr indent="0" marL="0">
              <a:buNone/>
            </a:pPr>
            <a:r>
              <a:rPr lang="en-US" sz="1800" b="1" dirty="0">
                <a:solidFill>
                  <a:srgbClr val="262320"/>
                </a:solidFill>
                <a:latin typeface="Cambria" pitchFamily="34" charset="0"/>
                <a:ea typeface="Cambria" pitchFamily="34" charset="-122"/>
                <a:cs typeface="Cambria" pitchFamily="34" charset="-120"/>
              </a:rPr>
              <a:t>Trois points d’entrée</a:t>
            </a:r>
            <a:endParaRPr lang="en-US" sz="1800" dirty="0"/>
          </a:p>
        </p:txBody>
      </p:sp>
      <p:sp>
        <p:nvSpPr>
          <p:cNvPr id="4" name="Shape 2"/>
          <p:cNvSpPr/>
          <p:nvPr/>
        </p:nvSpPr>
        <p:spPr>
          <a:xfrm>
            <a:off x="685800" y="1965960"/>
            <a:ext cx="502920" cy="502920"/>
          </a:xfrm>
          <a:prstGeom prst="ellipse">
            <a:avLst/>
          </a:prstGeom>
          <a:solidFill>
            <a:srgbClr val="7E22CE"/>
          </a:solidFill>
          <a:ln/>
        </p:spPr>
      </p:sp>
      <p:sp>
        <p:nvSpPr>
          <p:cNvPr id="5" name="Text 3"/>
          <p:cNvSpPr/>
          <p:nvPr/>
        </p:nvSpPr>
        <p:spPr>
          <a:xfrm>
            <a:off x="685800"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371600" y="1920240"/>
            <a:ext cx="4572000" cy="594360"/>
          </a:xfrm>
          <a:prstGeom prst="rect">
            <a:avLst/>
          </a:prstGeom>
          <a:noFill/>
          <a:ln/>
        </p:spPr>
        <p:txBody>
          <a:bodyPr wrap="square" lIns="0" tIns="0" rIns="0" bIns="0" rtlCol="0" anchor="ctr"/>
          <a:lstStyle/>
          <a:p>
            <a:pPr indent="0" marL="0">
              <a:buNone/>
            </a:pPr>
            <a:r>
              <a:rPr lang="en-US" sz="1500" b="1" dirty="0">
                <a:solidFill>
                  <a:srgbClr val="7E22CE"/>
                </a:solidFill>
                <a:latin typeface="Calibri" pitchFamily="34" charset="0"/>
                <a:ea typeface="Calibri" pitchFamily="34" charset="-122"/>
                <a:cs typeface="Calibri" pitchFamily="34" charset="-120"/>
              </a:rPr>
              <a:t>Fiche produit  </a:t>
            </a:r>
            <a:pPr indent="0" marL="0">
              <a:buNone/>
            </a:pPr>
            <a:r>
              <a:rPr lang="en-US" sz="1400" dirty="0">
                <a:solidFill>
                  <a:srgbClr val="6E695E"/>
                </a:solidFill>
                <a:latin typeface="Calibri" pitchFamily="34" charset="0"/>
                <a:ea typeface="Calibri" pitchFamily="34" charset="-122"/>
                <a:cs typeface="Calibri" pitchFamily="34" charset="-120"/>
              </a:rPr>
              <a:t>— similaires / complémentaires</a:t>
            </a:r>
            <a:endParaRPr lang="en-US" sz="1500" dirty="0"/>
          </a:p>
        </p:txBody>
      </p:sp>
      <p:sp>
        <p:nvSpPr>
          <p:cNvPr id="7" name="Shape 5"/>
          <p:cNvSpPr/>
          <p:nvPr/>
        </p:nvSpPr>
        <p:spPr>
          <a:xfrm>
            <a:off x="685800" y="2880360"/>
            <a:ext cx="502920" cy="502920"/>
          </a:xfrm>
          <a:prstGeom prst="ellipse">
            <a:avLst/>
          </a:prstGeom>
          <a:solidFill>
            <a:srgbClr val="7E22CE"/>
          </a:solidFill>
          <a:ln/>
        </p:spPr>
      </p:sp>
      <p:sp>
        <p:nvSpPr>
          <p:cNvPr id="8" name="Text 6"/>
          <p:cNvSpPr/>
          <p:nvPr/>
        </p:nvSpPr>
        <p:spPr>
          <a:xfrm>
            <a:off x="685800" y="28803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371600" y="2834640"/>
            <a:ext cx="4572000" cy="594360"/>
          </a:xfrm>
          <a:prstGeom prst="rect">
            <a:avLst/>
          </a:prstGeom>
          <a:noFill/>
          <a:ln/>
        </p:spPr>
        <p:txBody>
          <a:bodyPr wrap="square" lIns="0" tIns="0" rIns="0" bIns="0" rtlCol="0" anchor="ctr"/>
          <a:lstStyle/>
          <a:p>
            <a:pPr indent="0" marL="0">
              <a:buNone/>
            </a:pPr>
            <a:r>
              <a:rPr lang="en-US" sz="1500" b="1" dirty="0">
                <a:solidFill>
                  <a:srgbClr val="7E22CE"/>
                </a:solidFill>
                <a:latin typeface="Calibri" pitchFamily="34" charset="0"/>
                <a:ea typeface="Calibri" pitchFamily="34" charset="-122"/>
                <a:cs typeface="Calibri" pitchFamily="34" charset="-120"/>
              </a:rPr>
              <a:t>Panier  </a:t>
            </a:r>
            <a:pPr indent="0" marL="0">
              <a:buNone/>
            </a:pPr>
            <a:r>
              <a:rPr lang="en-US" sz="1400" dirty="0">
                <a:solidFill>
                  <a:srgbClr val="6E695E"/>
                </a:solidFill>
                <a:latin typeface="Calibri" pitchFamily="34" charset="0"/>
                <a:ea typeface="Calibri" pitchFamily="34" charset="-122"/>
                <a:cs typeface="Calibri" pitchFamily="34" charset="-120"/>
              </a:rPr>
              <a:t>— articles associés au contenu</a:t>
            </a:r>
            <a:endParaRPr lang="en-US" sz="1500" dirty="0"/>
          </a:p>
        </p:txBody>
      </p:sp>
      <p:sp>
        <p:nvSpPr>
          <p:cNvPr id="10" name="Shape 8"/>
          <p:cNvSpPr/>
          <p:nvPr/>
        </p:nvSpPr>
        <p:spPr>
          <a:xfrm>
            <a:off x="685800" y="3794760"/>
            <a:ext cx="502920" cy="502920"/>
          </a:xfrm>
          <a:prstGeom prst="ellipse">
            <a:avLst/>
          </a:prstGeom>
          <a:solidFill>
            <a:srgbClr val="7E22CE"/>
          </a:solidFill>
          <a:ln/>
        </p:spPr>
      </p:sp>
      <p:sp>
        <p:nvSpPr>
          <p:cNvPr id="11" name="Text 9"/>
          <p:cNvSpPr/>
          <p:nvPr/>
        </p:nvSpPr>
        <p:spPr>
          <a:xfrm>
            <a:off x="685800" y="3794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371600" y="3749040"/>
            <a:ext cx="4572000" cy="594360"/>
          </a:xfrm>
          <a:prstGeom prst="rect">
            <a:avLst/>
          </a:prstGeom>
          <a:noFill/>
          <a:ln/>
        </p:spPr>
        <p:txBody>
          <a:bodyPr wrap="square" lIns="0" tIns="0" rIns="0" bIns="0" rtlCol="0" anchor="ctr"/>
          <a:lstStyle/>
          <a:p>
            <a:pPr indent="0" marL="0">
              <a:buNone/>
            </a:pPr>
            <a:r>
              <a:rPr lang="en-US" sz="1500" b="1" dirty="0">
                <a:solidFill>
                  <a:srgbClr val="7E22CE"/>
                </a:solidFill>
                <a:latin typeface="Calibri" pitchFamily="34" charset="0"/>
                <a:ea typeface="Calibri" pitchFamily="34" charset="-122"/>
                <a:cs typeface="Calibri" pitchFamily="34" charset="-120"/>
              </a:rPr>
              <a:t>Historique  </a:t>
            </a:r>
            <a:pPr indent="0" marL="0">
              <a:buNone/>
            </a:pPr>
            <a:r>
              <a:rPr lang="en-US" sz="1400" dirty="0">
                <a:solidFill>
                  <a:srgbClr val="6E695E"/>
                </a:solidFill>
                <a:latin typeface="Calibri" pitchFamily="34" charset="0"/>
                <a:ea typeface="Calibri" pitchFamily="34" charset="-122"/>
                <a:cs typeface="Calibri" pitchFamily="34" charset="-120"/>
              </a:rPr>
              <a:t>— suggestions du client connecté</a:t>
            </a:r>
            <a:endParaRPr lang="en-US" sz="1500" dirty="0"/>
          </a:p>
        </p:txBody>
      </p:sp>
      <p:sp>
        <p:nvSpPr>
          <p:cNvPr id="13" name="Shape 11"/>
          <p:cNvSpPr/>
          <p:nvPr/>
        </p:nvSpPr>
        <p:spPr>
          <a:xfrm>
            <a:off x="6309360" y="1463040"/>
            <a:ext cx="5120640" cy="2743200"/>
          </a:xfrm>
          <a:prstGeom prst="roundRect">
            <a:avLst>
              <a:gd name="adj" fmla="val 3333"/>
            </a:avLst>
          </a:prstGeom>
          <a:solidFill>
            <a:srgbClr val="F6EEFB"/>
          </a:solidFill>
          <a:ln w="12700">
            <a:solidFill>
              <a:srgbClr val="7E22CE"/>
            </a:solidFill>
            <a:prstDash val="solid"/>
          </a:ln>
          <a:effectLst>
            <a:outerShdw sx="100000" sy="100000" kx="0" ky="0" algn="bl" rotWithShape="0" blurRad="76200" dist="25400" dir="5400000">
              <a:srgbClr val="000000">
                <a:alpha val="12000"/>
              </a:srgbClr>
            </a:outerShdw>
          </a:effectLst>
        </p:spPr>
      </p:sp>
      <p:sp>
        <p:nvSpPr>
          <p:cNvPr id="14" name="Text 12"/>
          <p:cNvSpPr/>
          <p:nvPr/>
        </p:nvSpPr>
        <p:spPr>
          <a:xfrm>
            <a:off x="6583680" y="1691640"/>
            <a:ext cx="4572000" cy="365760"/>
          </a:xfrm>
          <a:prstGeom prst="rect">
            <a:avLst/>
          </a:prstGeom>
          <a:noFill/>
          <a:ln/>
        </p:spPr>
        <p:txBody>
          <a:bodyPr wrap="square" lIns="0" tIns="0" rIns="0" bIns="0" rtlCol="0" anchor="ctr"/>
          <a:lstStyle/>
          <a:p>
            <a:pPr indent="0" marL="0">
              <a:buNone/>
            </a:pPr>
            <a:r>
              <a:rPr lang="en-US" sz="1600" b="1" dirty="0">
                <a:solidFill>
                  <a:srgbClr val="7E22CE"/>
                </a:solidFill>
                <a:latin typeface="Cambria" pitchFamily="34" charset="0"/>
                <a:ea typeface="Cambria" pitchFamily="34" charset="-122"/>
                <a:cs typeface="Cambria" pitchFamily="34" charset="-120"/>
              </a:rPr>
              <a:t>Comment ça marche</a:t>
            </a:r>
            <a:endParaRPr lang="en-US" sz="1600" dirty="0"/>
          </a:p>
        </p:txBody>
      </p:sp>
      <p:sp>
        <p:nvSpPr>
          <p:cNvPr id="15" name="Text 13"/>
          <p:cNvSpPr/>
          <p:nvPr/>
        </p:nvSpPr>
        <p:spPr>
          <a:xfrm>
            <a:off x="6583680" y="2240280"/>
            <a:ext cx="4572000" cy="192024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262320"/>
                </a:solidFill>
                <a:latin typeface="Calibri" pitchFamily="34" charset="0"/>
                <a:ea typeface="Calibri" pitchFamily="34" charset="-122"/>
                <a:cs typeface="Calibri" pitchFamily="34" charset="-120"/>
              </a:rPr>
              <a:t>Le modèle de langage suggère à partir du contexte (produit + historique).</a:t>
            </a:r>
            <a:endParaRPr lang="en-US" sz="1350" dirty="0"/>
          </a:p>
          <a:p>
            <a:pPr marL="177800" indent="-177800">
              <a:spcAft>
                <a:spcPts val="900"/>
              </a:spcAft>
              <a:buSzPct val="100000"/>
              <a:buChar char="•"/>
            </a:pPr>
            <a:r>
              <a:rPr lang="en-US" sz="1350" dirty="0">
                <a:solidFill>
                  <a:srgbClr val="262320"/>
                </a:solidFill>
                <a:latin typeface="Calibri" pitchFamily="34" charset="0"/>
                <a:ea typeface="Calibri" pitchFamily="34" charset="-122"/>
                <a:cs typeface="Calibri" pitchFamily="34" charset="-120"/>
              </a:rPr>
              <a:t>Repli automatique par similarité (catégorie + gamme de prix) si l’IA ne répond pas.</a:t>
            </a:r>
            <a:endParaRPr lang="en-US" sz="1350" dirty="0"/>
          </a:p>
          <a:p>
            <a:pPr marL="177800" indent="-177800">
              <a:spcAft>
                <a:spcPts val="900"/>
              </a:spcAft>
              <a:buSzPct val="100000"/>
              <a:buChar char="•"/>
            </a:pPr>
            <a:r>
              <a:rPr lang="en-US" sz="1350" dirty="0">
                <a:solidFill>
                  <a:srgbClr val="262320"/>
                </a:solidFill>
                <a:latin typeface="Calibri" pitchFamily="34" charset="0"/>
                <a:ea typeface="Calibri" pitchFamily="34" charset="-122"/>
                <a:cs typeface="Calibri" pitchFamily="34" charset="-120"/>
              </a:rPr>
              <a:t>Un badge « IA active » distingue une vraie reco d’un repli — transparence.</a:t>
            </a:r>
            <a:endParaRPr lang="en-US" sz="1350" dirty="0"/>
          </a:p>
        </p:txBody>
      </p:sp>
      <p:sp>
        <p:nvSpPr>
          <p:cNvPr id="16" name="Shape 14"/>
          <p:cNvSpPr/>
          <p:nvPr/>
        </p:nvSpPr>
        <p:spPr>
          <a:xfrm>
            <a:off x="6309360" y="4343400"/>
            <a:ext cx="5120640" cy="1188720"/>
          </a:xfrm>
          <a:prstGeom prst="roundRect">
            <a:avLst>
              <a:gd name="adj" fmla="val 7692"/>
            </a:avLst>
          </a:prstGeom>
          <a:solidFill>
            <a:srgbClr val="F5EFE8"/>
          </a:solidFill>
          <a:ln w="12700">
            <a:solidFill>
              <a:srgbClr val="6B7C3F"/>
            </a:solidFill>
            <a:prstDash val="solid"/>
          </a:ln>
          <a:effectLst>
            <a:outerShdw sx="100000" sy="100000" kx="0" ky="0" algn="bl" rotWithShape="0" blurRad="76200" dist="25400" dir="5400000">
              <a:srgbClr val="000000">
                <a:alpha val="12000"/>
              </a:srgbClr>
            </a:outerShdw>
          </a:effectLst>
        </p:spPr>
      </p:sp>
      <p:sp>
        <p:nvSpPr>
          <p:cNvPr id="17" name="Text 15"/>
          <p:cNvSpPr/>
          <p:nvPr/>
        </p:nvSpPr>
        <p:spPr>
          <a:xfrm>
            <a:off x="6583680" y="4480560"/>
            <a:ext cx="4572000" cy="914400"/>
          </a:xfrm>
          <a:prstGeom prst="rect">
            <a:avLst/>
          </a:prstGeom>
          <a:noFill/>
          <a:ln/>
        </p:spPr>
        <p:txBody>
          <a:bodyPr wrap="square" lIns="0" tIns="0" rIns="0" bIns="0" rtlCol="0" anchor="ctr"/>
          <a:lstStyle/>
          <a:p>
            <a:pPr indent="0" marL="0">
              <a:lnSpc>
                <a:spcPct val="110000"/>
              </a:lnSpc>
              <a:buNone/>
            </a:pPr>
            <a:r>
              <a:rPr lang="en-US" sz="1300" b="1" dirty="0">
                <a:solidFill>
                  <a:srgbClr val="6B7C3F"/>
                </a:solidFill>
                <a:latin typeface="Calibri" pitchFamily="34" charset="0"/>
                <a:ea typeface="Calibri" pitchFamily="34" charset="-122"/>
                <a:cs typeface="Calibri" pitchFamily="34" charset="-120"/>
              </a:rPr>
              <a:t>Bonus (hors périmètre) : </a:t>
            </a:r>
            <a:pPr indent="0" marL="0">
              <a:lnSpc>
                <a:spcPct val="110000"/>
              </a:lnSpc>
              <a:buNone/>
            </a:pPr>
            <a:r>
              <a:rPr lang="en-US" sz="1300" dirty="0">
                <a:solidFill>
                  <a:srgbClr val="262320"/>
                </a:solidFill>
                <a:latin typeface="Calibri" pitchFamily="34" charset="0"/>
                <a:ea typeface="Calibri" pitchFamily="34" charset="-122"/>
                <a:cs typeface="Calibri" pitchFamily="34" charset="-120"/>
              </a:rPr>
              <a:t>analyse concurrentielle IA côté vendeur — les chiffres sont calculés par le serveur, l’IA ne fait que rédiger la synthèse.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algn="l" indent="0" marL="0">
              <a:buNone/>
            </a:pPr>
            <a:r>
              <a:rPr lang="en-US" sz="3200" b="1" dirty="0">
                <a:solidFill>
                  <a:srgbClr val="8B4513"/>
                </a:solidFill>
                <a:latin typeface="Cambria" pitchFamily="34" charset="0"/>
                <a:ea typeface="Cambria" pitchFamily="34" charset="-122"/>
                <a:cs typeface="Cambria" pitchFamily="34" charset="-120"/>
              </a:rPr>
              <a:t>Conception des données</a:t>
            </a:r>
            <a:endParaRPr lang="en-US" sz="3200" dirty="0"/>
          </a:p>
        </p:txBody>
      </p:sp>
      <p:sp>
        <p:nvSpPr>
          <p:cNvPr id="3" name="Text 1"/>
          <p:cNvSpPr/>
          <p:nvPr/>
        </p:nvSpPr>
        <p:spPr>
          <a:xfrm>
            <a:off x="640080" y="1417320"/>
            <a:ext cx="5029200" cy="365760"/>
          </a:xfrm>
          <a:prstGeom prst="rect">
            <a:avLst/>
          </a:prstGeom>
          <a:noFill/>
          <a:ln/>
        </p:spPr>
        <p:txBody>
          <a:bodyPr wrap="square" lIns="0" tIns="0" rIns="0" bIns="0" rtlCol="0" anchor="ctr"/>
          <a:lstStyle/>
          <a:p>
            <a:pPr indent="0" marL="0">
              <a:buNone/>
            </a:pPr>
            <a:r>
              <a:rPr lang="en-US" sz="1800" b="1" dirty="0">
                <a:solidFill>
                  <a:srgbClr val="8B4513"/>
                </a:solidFill>
                <a:latin typeface="Cambria" pitchFamily="34" charset="0"/>
                <a:ea typeface="Cambria" pitchFamily="34" charset="-122"/>
                <a:cs typeface="Cambria" pitchFamily="34" charset="-120"/>
              </a:rPr>
              <a:t>Choix physiques</a:t>
            </a:r>
            <a:endParaRPr lang="en-US" sz="1800" dirty="0"/>
          </a:p>
        </p:txBody>
      </p:sp>
      <p:sp>
        <p:nvSpPr>
          <p:cNvPr id="4" name="Text 2"/>
          <p:cNvSpPr/>
          <p:nvPr/>
        </p:nvSpPr>
        <p:spPr>
          <a:xfrm>
            <a:off x="640080" y="1874520"/>
            <a:ext cx="5394960" cy="2926080"/>
          </a:xfrm>
          <a:prstGeom prst="rect">
            <a:avLst/>
          </a:prstGeom>
          <a:noFill/>
          <a:ln/>
        </p:spPr>
        <p:txBody>
          <a:bodyPr wrap="square" lIns="0" tIns="0" rIns="0" bIns="0" rtlCol="0" anchor="t"/>
          <a:lstStyle/>
          <a:p>
            <a:pPr marL="177800" indent="-177800">
              <a:spcAft>
                <a:spcPts val="1100"/>
              </a:spcAft>
              <a:buSzPct val="100000"/>
              <a:buChar char="•"/>
            </a:pPr>
            <a:r>
              <a:rPr lang="en-US" sz="1400" dirty="0">
                <a:solidFill>
                  <a:srgbClr val="262320"/>
                </a:solidFill>
                <a:latin typeface="Calibri" pitchFamily="34" charset="0"/>
                <a:ea typeface="Calibri" pitchFamily="34" charset="-122"/>
                <a:cs typeface="Calibri" pitchFamily="34" charset="-120"/>
              </a:rPr>
              <a:t>InnoDB + utf8mb4 : clés étrangères, ACID, verrous ligne</a:t>
            </a:r>
            <a:endParaRPr lang="en-US" sz="1400" dirty="0"/>
          </a:p>
          <a:p>
            <a:pPr marL="177800" indent="-177800">
              <a:spcAft>
                <a:spcPts val="1100"/>
              </a:spcAft>
              <a:buSzPct val="100000"/>
              <a:buChar char="•"/>
            </a:pPr>
            <a:r>
              <a:rPr lang="en-US" sz="1400" dirty="0">
                <a:solidFill>
                  <a:srgbClr val="262320"/>
                </a:solidFill>
                <a:latin typeface="Calibri" pitchFamily="34" charset="0"/>
                <a:ea typeface="Calibri" pitchFamily="34" charset="-122"/>
                <a:cs typeface="Calibri" pitchFamily="34" charset="-120"/>
              </a:rPr>
              <a:t>DECIMAL pour les montants (jamais de flottant)</a:t>
            </a:r>
            <a:endParaRPr lang="en-US" sz="1400" dirty="0"/>
          </a:p>
          <a:p>
            <a:pPr marL="177800" indent="-177800">
              <a:spcAft>
                <a:spcPts val="1100"/>
              </a:spcAft>
              <a:buSzPct val="100000"/>
              <a:buChar char="•"/>
            </a:pPr>
            <a:r>
              <a:rPr lang="en-US" sz="1400" dirty="0">
                <a:solidFill>
                  <a:srgbClr val="262320"/>
                </a:solidFill>
                <a:latin typeface="Calibri" pitchFamily="34" charset="0"/>
                <a:ea typeface="Calibri" pitchFamily="34" charset="-122"/>
                <a:cs typeface="Calibri" pitchFamily="34" charset="-120"/>
              </a:rPr>
              <a:t>Snapshot prix + nom dans les lignes de commande : historique immuable</a:t>
            </a:r>
            <a:endParaRPr lang="en-US" sz="1400" dirty="0"/>
          </a:p>
          <a:p>
            <a:pPr marL="177800" indent="-177800">
              <a:spcAft>
                <a:spcPts val="1100"/>
              </a:spcAft>
              <a:buSzPct val="100000"/>
              <a:buChar char="•"/>
            </a:pPr>
            <a:r>
              <a:rPr lang="en-US" sz="1400" dirty="0">
                <a:solidFill>
                  <a:srgbClr val="262320"/>
                </a:solidFill>
                <a:latin typeface="Calibri" pitchFamily="34" charset="0"/>
                <a:ea typeface="Calibri" pitchFamily="34" charset="-122"/>
                <a:cs typeface="Calibri" pitchFamily="34" charset="-120"/>
              </a:rPr>
              <a:t>FULLTEXT pour la recherche · JSON pour images/tags</a:t>
            </a:r>
            <a:endParaRPr lang="en-US" sz="1400" dirty="0"/>
          </a:p>
        </p:txBody>
      </p:sp>
      <p:sp>
        <p:nvSpPr>
          <p:cNvPr id="5" name="Shape 3"/>
          <p:cNvSpPr/>
          <p:nvPr/>
        </p:nvSpPr>
        <p:spPr>
          <a:xfrm>
            <a:off x="6400800" y="1463040"/>
            <a:ext cx="5029200" cy="3977640"/>
          </a:xfrm>
          <a:prstGeom prst="roundRect">
            <a:avLst>
              <a:gd name="adj" fmla="val 2299"/>
            </a:avLst>
          </a:prstGeom>
          <a:solidFill>
            <a:srgbClr val="F7F4EF"/>
          </a:solidFill>
          <a:ln w="12700">
            <a:solidFill>
              <a:srgbClr val="8B4513"/>
            </a:solidFill>
            <a:prstDash val="solid"/>
          </a:ln>
          <a:effectLst>
            <a:outerShdw sx="100000" sy="100000" kx="0" ky="0" algn="bl" rotWithShape="0" blurRad="76200" dist="25400" dir="5400000">
              <a:srgbClr val="000000">
                <a:alpha val="12000"/>
              </a:srgbClr>
            </a:outerShdw>
          </a:effectLst>
        </p:spPr>
      </p:sp>
      <p:sp>
        <p:nvSpPr>
          <p:cNvPr id="6" name="Text 4"/>
          <p:cNvSpPr/>
          <p:nvPr/>
        </p:nvSpPr>
        <p:spPr>
          <a:xfrm>
            <a:off x="6675120" y="1691640"/>
            <a:ext cx="4572000" cy="365760"/>
          </a:xfrm>
          <a:prstGeom prst="rect">
            <a:avLst/>
          </a:prstGeom>
          <a:noFill/>
          <a:ln/>
        </p:spPr>
        <p:txBody>
          <a:bodyPr wrap="square" lIns="0" tIns="0" rIns="0" bIns="0" rtlCol="0" anchor="ctr"/>
          <a:lstStyle/>
          <a:p>
            <a:pPr indent="0" marL="0">
              <a:buNone/>
            </a:pPr>
            <a:r>
              <a:rPr lang="en-US" sz="1600" b="1" dirty="0">
                <a:solidFill>
                  <a:srgbClr val="8B4513"/>
                </a:solidFill>
                <a:latin typeface="Cambria" pitchFamily="34" charset="0"/>
                <a:ea typeface="Cambria" pitchFamily="34" charset="-122"/>
                <a:cs typeface="Cambria" pitchFamily="34" charset="-120"/>
              </a:rPr>
              <a:t>Logique embarquée en base (CP8)</a:t>
            </a:r>
            <a:endParaRPr lang="en-US" sz="1600" dirty="0"/>
          </a:p>
        </p:txBody>
      </p:sp>
      <p:sp>
        <p:nvSpPr>
          <p:cNvPr id="7" name="Text 5"/>
          <p:cNvSpPr/>
          <p:nvPr/>
        </p:nvSpPr>
        <p:spPr>
          <a:xfrm>
            <a:off x="6675120" y="2240280"/>
            <a:ext cx="4480560" cy="201168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rgbClr val="262320"/>
                </a:solidFill>
                <a:latin typeface="Calibri" pitchFamily="34" charset="0"/>
                <a:ea typeface="Calibri" pitchFamily="34" charset="-122"/>
                <a:cs typeface="Calibri" pitchFamily="34" charset="-120"/>
              </a:rPr>
              <a:t>4 triggers : recalcul des notes avis → produit → boutique</a:t>
            </a:r>
            <a:endParaRPr lang="en-US" sz="1400" dirty="0"/>
          </a:p>
          <a:p>
            <a:pPr marL="177800" indent="-177800">
              <a:spcAft>
                <a:spcPts val="1200"/>
              </a:spcAft>
              <a:buSzPct val="100000"/>
              <a:buChar char="•"/>
            </a:pPr>
            <a:r>
              <a:rPr lang="en-US" sz="1400" dirty="0">
                <a:solidFill>
                  <a:srgbClr val="262320"/>
                </a:solidFill>
                <a:latin typeface="Calibri" pitchFamily="34" charset="0"/>
                <a:ea typeface="Calibri" pitchFamily="34" charset="-122"/>
                <a:cs typeface="Calibri" pitchFamily="34" charset="-120"/>
              </a:rPr>
              <a:t>Fonction fn_stock_suffisant() : règle métier en SQL</a:t>
            </a:r>
            <a:endParaRPr lang="en-US" sz="1400" dirty="0"/>
          </a:p>
          <a:p>
            <a:pPr marL="177800" indent="-177800">
              <a:spcAft>
                <a:spcPts val="1200"/>
              </a:spcAft>
              <a:buSzPct val="100000"/>
              <a:buChar char="•"/>
            </a:pPr>
            <a:r>
              <a:rPr lang="en-US" sz="1400" dirty="0">
                <a:solidFill>
                  <a:srgbClr val="262320"/>
                </a:solidFill>
                <a:latin typeface="Calibri" pitchFamily="34" charset="0"/>
                <a:ea typeface="Calibri" pitchFamily="34" charset="-122"/>
                <a:cs typeface="Calibri" pitchFamily="34" charset="-120"/>
              </a:rPr>
              <a:t>Procédure + event quotidien : libération des paiements à J+14</a:t>
            </a:r>
            <a:endParaRPr lang="en-US" sz="1400" dirty="0"/>
          </a:p>
        </p:txBody>
      </p:sp>
      <p:sp>
        <p:nvSpPr>
          <p:cNvPr id="8" name="Text 6"/>
          <p:cNvSpPr/>
          <p:nvPr/>
        </p:nvSpPr>
        <p:spPr>
          <a:xfrm>
            <a:off x="6675120" y="4892040"/>
            <a:ext cx="4480560" cy="365760"/>
          </a:xfrm>
          <a:prstGeom prst="rect">
            <a:avLst/>
          </a:prstGeom>
          <a:noFill/>
          <a:ln/>
        </p:spPr>
        <p:txBody>
          <a:bodyPr wrap="square" lIns="0" tIns="0" rIns="0" bIns="0" rtlCol="0" anchor="ctr"/>
          <a:lstStyle/>
          <a:p>
            <a:pPr indent="0" marL="0">
              <a:buNone/>
            </a:pPr>
            <a:r>
              <a:rPr lang="en-US" sz="1300" i="1" dirty="0">
                <a:solidFill>
                  <a:srgbClr val="6E695E"/>
                </a:solidFill>
                <a:latin typeface="Calibri" pitchFamily="34" charset="0"/>
                <a:ea typeface="Calibri" pitchFamily="34" charset="-122"/>
                <a:cs typeface="Calibri" pitchFamily="34" charset="-120"/>
              </a:rPr>
              <a:t>10 tables reliées par clés étrangères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algn="l" indent="0" marL="0">
              <a:buNone/>
            </a:pPr>
            <a:r>
              <a:rPr lang="en-US" sz="3200" b="1" dirty="0">
                <a:solidFill>
                  <a:srgbClr val="8B4513"/>
                </a:solidFill>
                <a:latin typeface="Cambria" pitchFamily="34" charset="0"/>
                <a:ea typeface="Cambria" pitchFamily="34" charset="-122"/>
                <a:cs typeface="Cambria" pitchFamily="34" charset="-120"/>
              </a:rPr>
              <a:t>Tests &amp; sécurité</a:t>
            </a:r>
            <a:endParaRPr lang="en-US" sz="3200" dirty="0"/>
          </a:p>
        </p:txBody>
      </p:sp>
      <p:sp>
        <p:nvSpPr>
          <p:cNvPr id="3" name="Shape 1"/>
          <p:cNvSpPr/>
          <p:nvPr/>
        </p:nvSpPr>
        <p:spPr>
          <a:xfrm>
            <a:off x="640080" y="1463040"/>
            <a:ext cx="5120640" cy="4023360"/>
          </a:xfrm>
          <a:prstGeom prst="roundRect">
            <a:avLst>
              <a:gd name="adj" fmla="val 2273"/>
            </a:avLst>
          </a:prstGeom>
          <a:solidFill>
            <a:srgbClr val="FFFFFF"/>
          </a:solidFill>
          <a:ln w="12700">
            <a:solidFill>
              <a:srgbClr val="EFE7DB"/>
            </a:solidFill>
            <a:prstDash val="solid"/>
          </a:ln>
          <a:effectLst>
            <a:outerShdw sx="100000" sy="100000" kx="0" ky="0" algn="bl" rotWithShape="0" blurRad="76200" dist="25400" dir="5400000">
              <a:srgbClr val="000000">
                <a:alpha val="12000"/>
              </a:srgbClr>
            </a:outerShdw>
          </a:effectLst>
        </p:spPr>
      </p:sp>
      <p:sp>
        <p:nvSpPr>
          <p:cNvPr id="4" name="Text 2"/>
          <p:cNvSpPr/>
          <p:nvPr/>
        </p:nvSpPr>
        <p:spPr>
          <a:xfrm>
            <a:off x="914400" y="1645920"/>
            <a:ext cx="4572000" cy="365760"/>
          </a:xfrm>
          <a:prstGeom prst="rect">
            <a:avLst/>
          </a:prstGeom>
          <a:noFill/>
          <a:ln/>
        </p:spPr>
        <p:txBody>
          <a:bodyPr wrap="square" lIns="0" tIns="0" rIns="0" bIns="0" rtlCol="0" anchor="ctr"/>
          <a:lstStyle/>
          <a:p>
            <a:pPr indent="0" marL="0">
              <a:buNone/>
            </a:pPr>
            <a:r>
              <a:rPr lang="en-US" sz="1800" b="1" dirty="0">
                <a:solidFill>
                  <a:srgbClr val="8B4513"/>
                </a:solidFill>
                <a:latin typeface="Cambria" pitchFamily="34" charset="0"/>
                <a:ea typeface="Cambria" pitchFamily="34" charset="-122"/>
                <a:cs typeface="Cambria" pitchFamily="34" charset="-120"/>
              </a:rPr>
              <a:t>Tests</a:t>
            </a:r>
            <a:endParaRPr lang="en-US" sz="1800" dirty="0"/>
          </a:p>
        </p:txBody>
      </p:sp>
      <p:sp>
        <p:nvSpPr>
          <p:cNvPr id="5" name="Text 3"/>
          <p:cNvSpPr/>
          <p:nvPr/>
        </p:nvSpPr>
        <p:spPr>
          <a:xfrm>
            <a:off x="914400" y="2057400"/>
            <a:ext cx="2011680" cy="914400"/>
          </a:xfrm>
          <a:prstGeom prst="rect">
            <a:avLst/>
          </a:prstGeom>
          <a:noFill/>
          <a:ln/>
        </p:spPr>
        <p:txBody>
          <a:bodyPr wrap="square" lIns="0" tIns="0" rIns="0" bIns="0" rtlCol="0" anchor="ctr"/>
          <a:lstStyle/>
          <a:p>
            <a:pPr indent="0" marL="0">
              <a:buNone/>
            </a:pPr>
            <a:r>
              <a:rPr lang="en-US" sz="5400" b="1" dirty="0">
                <a:solidFill>
                  <a:srgbClr val="8B4513"/>
                </a:solidFill>
                <a:latin typeface="Cambria" pitchFamily="34" charset="0"/>
                <a:ea typeface="Cambria" pitchFamily="34" charset="-122"/>
                <a:cs typeface="Cambria" pitchFamily="34" charset="-120"/>
              </a:rPr>
              <a:t>~94</a:t>
            </a:r>
            <a:endParaRPr lang="en-US" sz="5400" dirty="0"/>
          </a:p>
        </p:txBody>
      </p:sp>
      <p:sp>
        <p:nvSpPr>
          <p:cNvPr id="6" name="Text 4"/>
          <p:cNvSpPr/>
          <p:nvPr/>
        </p:nvSpPr>
        <p:spPr>
          <a:xfrm>
            <a:off x="2788920" y="2423160"/>
            <a:ext cx="2743200" cy="457200"/>
          </a:xfrm>
          <a:prstGeom prst="rect">
            <a:avLst/>
          </a:prstGeom>
          <a:noFill/>
          <a:ln/>
        </p:spPr>
        <p:txBody>
          <a:bodyPr wrap="square" lIns="0" tIns="0" rIns="0" bIns="0" rtlCol="0" anchor="ctr"/>
          <a:lstStyle/>
          <a:p>
            <a:pPr indent="0" marL="0">
              <a:buNone/>
            </a:pPr>
            <a:r>
              <a:rPr lang="en-US" sz="1300" dirty="0">
                <a:solidFill>
                  <a:srgbClr val="6E695E"/>
                </a:solidFill>
                <a:latin typeface="Calibri" pitchFamily="34" charset="0"/>
                <a:ea typeface="Calibri" pitchFamily="34" charset="-122"/>
                <a:cs typeface="Calibri" pitchFamily="34" charset="-120"/>
              </a:rPr>
              <a:t>tests API (PHPUnit)</a:t>
            </a:r>
            <a:endParaRPr lang="en-US" sz="1300" dirty="0"/>
          </a:p>
        </p:txBody>
      </p:sp>
      <p:sp>
        <p:nvSpPr>
          <p:cNvPr id="7" name="Text 5"/>
          <p:cNvSpPr/>
          <p:nvPr/>
        </p:nvSpPr>
        <p:spPr>
          <a:xfrm>
            <a:off x="914400" y="3200400"/>
            <a:ext cx="4572000" cy="21031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262320"/>
                </a:solidFill>
                <a:latin typeface="Calibri" pitchFamily="34" charset="0"/>
                <a:ea typeface="Calibri" pitchFamily="34" charset="-122"/>
                <a:cs typeface="Calibri" pitchFamily="34" charset="-120"/>
              </a:rPr>
              <a:t>Jest + RTL (web) · Jest (mobile)</a:t>
            </a:r>
            <a:endParaRPr lang="en-US" sz="1400" dirty="0"/>
          </a:p>
          <a:p>
            <a:pPr marL="177800" indent="-177800">
              <a:spcAft>
                <a:spcPts val="1000"/>
              </a:spcAft>
              <a:buSzPct val="100000"/>
              <a:buChar char="•"/>
            </a:pPr>
            <a:r>
              <a:rPr lang="en-US" sz="1400" dirty="0">
                <a:solidFill>
                  <a:srgbClr val="262320"/>
                </a:solidFill>
                <a:latin typeface="Calibri" pitchFamily="34" charset="0"/>
                <a:ea typeface="Calibri" pitchFamily="34" charset="-122"/>
                <a:cs typeface="Calibri" pitchFamily="34" charset="-120"/>
              </a:rPr>
              <a:t>Tests d’API + scénarios SQL (triggers, procédure)</a:t>
            </a:r>
            <a:endParaRPr lang="en-US" sz="1400" dirty="0"/>
          </a:p>
          <a:p>
            <a:pPr marL="177800" indent="-177800">
              <a:spcAft>
                <a:spcPts val="1000"/>
              </a:spcAft>
              <a:buSzPct val="100000"/>
              <a:buChar char="•"/>
            </a:pPr>
            <a:r>
              <a:rPr lang="en-US" sz="1400" dirty="0">
                <a:solidFill>
                  <a:srgbClr val="262320"/>
                </a:solidFill>
                <a:latin typeface="Calibri" pitchFamily="34" charset="0"/>
                <a:ea typeface="Calibri" pitchFamily="34" charset="-122"/>
                <a:cs typeface="Calibri" pitchFamily="34" charset="-120"/>
              </a:rPr>
              <a:t>Exécutés en CI (GitHub Actions)</a:t>
            </a:r>
            <a:endParaRPr lang="en-US" sz="1400" dirty="0"/>
          </a:p>
          <a:p>
            <a:pPr marL="177800" indent="-177800">
              <a:spcAft>
                <a:spcPts val="1000"/>
              </a:spcAft>
              <a:buSzPct val="100000"/>
              <a:buChar char="•"/>
            </a:pPr>
            <a:r>
              <a:rPr lang="en-US" sz="1400" dirty="0">
                <a:solidFill>
                  <a:srgbClr val="262320"/>
                </a:solidFill>
                <a:latin typeface="Calibri" pitchFamily="34" charset="0"/>
                <a:ea typeface="Calibri" pitchFamily="34" charset="-122"/>
                <a:cs typeface="Calibri" pitchFamily="34" charset="-120"/>
              </a:rPr>
              <a:t>Bugs réels détectés — et corrigés</a:t>
            </a:r>
            <a:endParaRPr lang="en-US" sz="1400" dirty="0"/>
          </a:p>
        </p:txBody>
      </p:sp>
      <p:sp>
        <p:nvSpPr>
          <p:cNvPr id="8" name="Shape 6"/>
          <p:cNvSpPr/>
          <p:nvPr/>
        </p:nvSpPr>
        <p:spPr>
          <a:xfrm>
            <a:off x="6126480" y="1463040"/>
            <a:ext cx="5394960" cy="4023360"/>
          </a:xfrm>
          <a:prstGeom prst="roundRect">
            <a:avLst>
              <a:gd name="adj" fmla="val 2273"/>
            </a:avLst>
          </a:prstGeom>
          <a:solidFill>
            <a:srgbClr val="F5EFE8"/>
          </a:solidFill>
          <a:ln w="12700">
            <a:solidFill>
              <a:srgbClr val="8B4513"/>
            </a:solidFill>
            <a:prstDash val="solid"/>
          </a:ln>
          <a:effectLst>
            <a:outerShdw sx="100000" sy="100000" kx="0" ky="0" algn="bl" rotWithShape="0" blurRad="76200" dist="25400" dir="5400000">
              <a:srgbClr val="000000">
                <a:alpha val="12000"/>
              </a:srgbClr>
            </a:outerShdw>
          </a:effectLst>
        </p:spPr>
      </p:sp>
      <p:sp>
        <p:nvSpPr>
          <p:cNvPr id="9" name="Text 7"/>
          <p:cNvSpPr/>
          <p:nvPr/>
        </p:nvSpPr>
        <p:spPr>
          <a:xfrm>
            <a:off x="6400800" y="1645920"/>
            <a:ext cx="4572000" cy="365760"/>
          </a:xfrm>
          <a:prstGeom prst="rect">
            <a:avLst/>
          </a:prstGeom>
          <a:noFill/>
          <a:ln/>
        </p:spPr>
        <p:txBody>
          <a:bodyPr wrap="square" lIns="0" tIns="0" rIns="0" bIns="0" rtlCol="0" anchor="ctr"/>
          <a:lstStyle/>
          <a:p>
            <a:pPr indent="0" marL="0">
              <a:buNone/>
            </a:pPr>
            <a:r>
              <a:rPr lang="en-US" sz="1800" b="1" dirty="0">
                <a:solidFill>
                  <a:srgbClr val="8B4513"/>
                </a:solidFill>
                <a:latin typeface="Cambria" pitchFamily="34" charset="0"/>
                <a:ea typeface="Cambria" pitchFamily="34" charset="-122"/>
                <a:cs typeface="Cambria" pitchFamily="34" charset="-120"/>
              </a:rPr>
              <a:t>Sécurité — OWASP</a:t>
            </a:r>
            <a:endParaRPr lang="en-US" sz="1800" dirty="0"/>
          </a:p>
        </p:txBody>
      </p:sp>
      <p:sp>
        <p:nvSpPr>
          <p:cNvPr id="10" name="Text 8"/>
          <p:cNvSpPr/>
          <p:nvPr/>
        </p:nvSpPr>
        <p:spPr>
          <a:xfrm>
            <a:off x="6400800" y="2148840"/>
            <a:ext cx="4937760" cy="3108960"/>
          </a:xfrm>
          <a:prstGeom prst="rect">
            <a:avLst/>
          </a:prstGeom>
          <a:noFill/>
          <a:ln/>
        </p:spPr>
        <p:txBody>
          <a:bodyPr wrap="square" lIns="0" tIns="0" rIns="0" bIns="0" rtlCol="0" anchor="t"/>
          <a:lstStyle/>
          <a:p>
            <a:pPr marL="177800" indent="-177800">
              <a:spcAft>
                <a:spcPts val="1100"/>
              </a:spcAft>
              <a:buSzPct val="100000"/>
              <a:buChar char="•"/>
            </a:pPr>
            <a:r>
              <a:rPr lang="en-US" sz="1400" dirty="0">
                <a:solidFill>
                  <a:srgbClr val="262320"/>
                </a:solidFill>
                <a:latin typeface="Calibri" pitchFamily="34" charset="0"/>
                <a:ea typeface="Calibri" pitchFamily="34" charset="-122"/>
                <a:cs typeface="Calibri" pitchFamily="34" charset="-120"/>
              </a:rPr>
              <a:t>Contrôle de rôle par middleware sur chaque route</a:t>
            </a:r>
            <a:endParaRPr lang="en-US" sz="1400" dirty="0"/>
          </a:p>
          <a:p>
            <a:pPr marL="177800" indent="-177800">
              <a:spcAft>
                <a:spcPts val="1100"/>
              </a:spcAft>
              <a:buSzPct val="100000"/>
              <a:buChar char="•"/>
            </a:pPr>
            <a:r>
              <a:rPr lang="en-US" sz="1400" dirty="0">
                <a:solidFill>
                  <a:srgbClr val="262320"/>
                </a:solidFill>
                <a:latin typeface="Calibri" pitchFamily="34" charset="0"/>
                <a:ea typeface="Calibri" pitchFamily="34" charset="-122"/>
                <a:cs typeface="Calibri" pitchFamily="34" charset="-120"/>
              </a:rPr>
              <a:t>Mots de passe bcrypt · requêtes préparées (Eloquent)</a:t>
            </a:r>
            <a:endParaRPr lang="en-US" sz="1400" dirty="0"/>
          </a:p>
          <a:p>
            <a:pPr marL="177800" indent="-177800">
              <a:spcAft>
                <a:spcPts val="1100"/>
              </a:spcAft>
              <a:buSzPct val="100000"/>
              <a:buChar char="•"/>
            </a:pPr>
            <a:r>
              <a:rPr lang="en-US" sz="1400" dirty="0">
                <a:solidFill>
                  <a:srgbClr val="262320"/>
                </a:solidFill>
                <a:latin typeface="Calibri" pitchFamily="34" charset="0"/>
                <a:ea typeface="Calibri" pitchFamily="34" charset="-122"/>
                <a:cs typeface="Calibri" pitchFamily="34" charset="-120"/>
              </a:rPr>
              <a:t>Verrouillage après 5 échecs + CAPTCHA dès le 3ᵉ</a:t>
            </a:r>
            <a:endParaRPr lang="en-US" sz="1400" dirty="0"/>
          </a:p>
          <a:p>
            <a:pPr marL="177800" indent="-177800">
              <a:spcAft>
                <a:spcPts val="1100"/>
              </a:spcAft>
              <a:buSzPct val="100000"/>
              <a:buChar char="•"/>
            </a:pPr>
            <a:r>
              <a:rPr lang="en-US" sz="1400" dirty="0">
                <a:solidFill>
                  <a:srgbClr val="262320"/>
                </a:solidFill>
                <a:latin typeface="Calibri" pitchFamily="34" charset="0"/>
                <a:ea typeface="Calibri" pitchFamily="34" charset="-122"/>
                <a:cs typeface="Calibri" pitchFamily="34" charset="-120"/>
              </a:rPr>
              <a:t>Journal d’activité consultable en back-office</a:t>
            </a:r>
            <a:endParaRPr lang="en-US" sz="1400" dirty="0"/>
          </a:p>
          <a:p>
            <a:pPr marL="177800" indent="-177800">
              <a:spcAft>
                <a:spcPts val="1100"/>
              </a:spcAft>
              <a:buSzPct val="100000"/>
              <a:buChar char="•"/>
            </a:pPr>
            <a:r>
              <a:rPr lang="en-US" sz="1400" dirty="0">
                <a:solidFill>
                  <a:srgbClr val="262320"/>
                </a:solidFill>
                <a:latin typeface="Calibri" pitchFamily="34" charset="0"/>
                <a:ea typeface="Calibri" pitchFamily="34" charset="-122"/>
                <a:cs typeface="Calibri" pitchFamily="34" charset="-120"/>
              </a:rPr>
              <a:t>.env non versionné · en-têtes de sécurité · CORS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A211C"/>
        </a:solidFill>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Démonstration</a:t>
            </a:r>
            <a:endParaRPr lang="en-US" sz="3200" dirty="0"/>
          </a:p>
        </p:txBody>
      </p:sp>
      <p:sp>
        <p:nvSpPr>
          <p:cNvPr id="3" name="Shape 1"/>
          <p:cNvSpPr/>
          <p:nvPr/>
        </p:nvSpPr>
        <p:spPr>
          <a:xfrm>
            <a:off x="1188720" y="2194560"/>
            <a:ext cx="868680" cy="868680"/>
          </a:xfrm>
          <a:prstGeom prst="ellipse">
            <a:avLst/>
          </a:prstGeom>
          <a:solidFill>
            <a:srgbClr val="8B4513"/>
          </a:solidFill>
          <a:ln/>
        </p:spPr>
      </p:sp>
      <p:sp>
        <p:nvSpPr>
          <p:cNvPr id="4" name="Text 2"/>
          <p:cNvSpPr/>
          <p:nvPr/>
        </p:nvSpPr>
        <p:spPr>
          <a:xfrm>
            <a:off x="1188720" y="21945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1</a:t>
            </a:r>
            <a:endParaRPr lang="en-US" sz="3000" dirty="0"/>
          </a:p>
        </p:txBody>
      </p:sp>
      <p:sp>
        <p:nvSpPr>
          <p:cNvPr id="5" name="Text 3"/>
          <p:cNvSpPr/>
          <p:nvPr/>
        </p:nvSpPr>
        <p:spPr>
          <a:xfrm>
            <a:off x="685800" y="3246120"/>
            <a:ext cx="18745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Inscription</a:t>
            </a:r>
            <a:endParaRPr lang="en-US" sz="1600" dirty="0"/>
          </a:p>
        </p:txBody>
      </p:sp>
      <p:sp>
        <p:nvSpPr>
          <p:cNvPr id="6" name="Text 4"/>
          <p:cNvSpPr/>
          <p:nvPr/>
        </p:nvSpPr>
        <p:spPr>
          <a:xfrm>
            <a:off x="685800" y="3611880"/>
            <a:ext cx="1874520" cy="640080"/>
          </a:xfrm>
          <a:prstGeom prst="rect">
            <a:avLst/>
          </a:prstGeom>
          <a:noFill/>
          <a:ln/>
        </p:spPr>
        <p:txBody>
          <a:bodyPr wrap="square" lIns="0" tIns="0" rIns="0" bIns="0" rtlCol="0" anchor="ctr"/>
          <a:lstStyle/>
          <a:p>
            <a:pPr algn="ctr" indent="0" marL="0">
              <a:buNone/>
            </a:pPr>
            <a:r>
              <a:rPr lang="en-US" sz="1200" dirty="0">
                <a:solidFill>
                  <a:srgbClr val="EFE7DB"/>
                </a:solidFill>
                <a:latin typeface="Calibri" pitchFamily="34" charset="0"/>
                <a:ea typeface="Calibri" pitchFamily="34" charset="-122"/>
                <a:cs typeface="Calibri" pitchFamily="34" charset="-120"/>
              </a:rPr>
              <a:t>d’un acheteur</a:t>
            </a:r>
            <a:endParaRPr lang="en-US" sz="1200" dirty="0"/>
          </a:p>
        </p:txBody>
      </p:sp>
      <p:sp>
        <p:nvSpPr>
          <p:cNvPr id="7" name="Text 5"/>
          <p:cNvSpPr/>
          <p:nvPr/>
        </p:nvSpPr>
        <p:spPr>
          <a:xfrm>
            <a:off x="2468880" y="2194560"/>
            <a:ext cx="548640" cy="868680"/>
          </a:xfrm>
          <a:prstGeom prst="rect">
            <a:avLst/>
          </a:prstGeom>
          <a:noFill/>
          <a:ln/>
        </p:spPr>
        <p:txBody>
          <a:bodyPr wrap="square" lIns="0" tIns="0" rIns="0" bIns="0" rtlCol="0" anchor="ctr"/>
          <a:lstStyle/>
          <a:p>
            <a:pPr algn="ctr" indent="0" marL="0">
              <a:buNone/>
            </a:pPr>
            <a:r>
              <a:rPr lang="en-US" sz="2600" b="1" dirty="0">
                <a:solidFill>
                  <a:srgbClr val="6B7C3F"/>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3474720" y="2194560"/>
            <a:ext cx="868680" cy="868680"/>
          </a:xfrm>
          <a:prstGeom prst="ellipse">
            <a:avLst/>
          </a:prstGeom>
          <a:solidFill>
            <a:srgbClr val="8B4513"/>
          </a:solidFill>
          <a:ln/>
        </p:spPr>
      </p:sp>
      <p:sp>
        <p:nvSpPr>
          <p:cNvPr id="9" name="Text 7"/>
          <p:cNvSpPr/>
          <p:nvPr/>
        </p:nvSpPr>
        <p:spPr>
          <a:xfrm>
            <a:off x="3474720" y="21945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2</a:t>
            </a:r>
            <a:endParaRPr lang="en-US" sz="3000" dirty="0"/>
          </a:p>
        </p:txBody>
      </p:sp>
      <p:sp>
        <p:nvSpPr>
          <p:cNvPr id="10" name="Text 8"/>
          <p:cNvSpPr/>
          <p:nvPr/>
        </p:nvSpPr>
        <p:spPr>
          <a:xfrm>
            <a:off x="2971800" y="3246120"/>
            <a:ext cx="18745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Commande</a:t>
            </a:r>
            <a:endParaRPr lang="en-US" sz="1600" dirty="0"/>
          </a:p>
        </p:txBody>
      </p:sp>
      <p:sp>
        <p:nvSpPr>
          <p:cNvPr id="11" name="Text 9"/>
          <p:cNvSpPr/>
          <p:nvPr/>
        </p:nvSpPr>
        <p:spPr>
          <a:xfrm>
            <a:off x="2971800" y="3611880"/>
            <a:ext cx="1874520" cy="640080"/>
          </a:xfrm>
          <a:prstGeom prst="rect">
            <a:avLst/>
          </a:prstGeom>
          <a:noFill/>
          <a:ln/>
        </p:spPr>
        <p:txBody>
          <a:bodyPr wrap="square" lIns="0" tIns="0" rIns="0" bIns="0" rtlCol="0" anchor="ctr"/>
          <a:lstStyle/>
          <a:p>
            <a:pPr algn="ctr" indent="0" marL="0">
              <a:buNone/>
            </a:pPr>
            <a:r>
              <a:rPr lang="en-US" sz="1200" dirty="0">
                <a:solidFill>
                  <a:srgbClr val="EFE7DB"/>
                </a:solidFill>
                <a:latin typeface="Calibri" pitchFamily="34" charset="0"/>
                <a:ea typeface="Calibri" pitchFamily="34" charset="-122"/>
                <a:cs typeface="Calibri" pitchFamily="34" charset="-120"/>
              </a:rPr>
              <a:t>stock décrémenté, rupture bloquée</a:t>
            </a:r>
            <a:endParaRPr lang="en-US" sz="1200" dirty="0"/>
          </a:p>
        </p:txBody>
      </p:sp>
      <p:sp>
        <p:nvSpPr>
          <p:cNvPr id="12" name="Text 10"/>
          <p:cNvSpPr/>
          <p:nvPr/>
        </p:nvSpPr>
        <p:spPr>
          <a:xfrm>
            <a:off x="4754880" y="2194560"/>
            <a:ext cx="548640" cy="868680"/>
          </a:xfrm>
          <a:prstGeom prst="rect">
            <a:avLst/>
          </a:prstGeom>
          <a:noFill/>
          <a:ln/>
        </p:spPr>
        <p:txBody>
          <a:bodyPr wrap="square" lIns="0" tIns="0" rIns="0" bIns="0" rtlCol="0" anchor="ctr"/>
          <a:lstStyle/>
          <a:p>
            <a:pPr algn="ctr" indent="0" marL="0">
              <a:buNone/>
            </a:pPr>
            <a:r>
              <a:rPr lang="en-US" sz="2600" b="1" dirty="0">
                <a:solidFill>
                  <a:srgbClr val="6B7C3F"/>
                </a:solidFill>
                <a:latin typeface="Calibri" pitchFamily="34" charset="0"/>
                <a:ea typeface="Calibri" pitchFamily="34" charset="-122"/>
                <a:cs typeface="Calibri" pitchFamily="34" charset="-120"/>
              </a:rPr>
              <a:t>→</a:t>
            </a:r>
            <a:endParaRPr lang="en-US" sz="2600" dirty="0"/>
          </a:p>
        </p:txBody>
      </p:sp>
      <p:sp>
        <p:nvSpPr>
          <p:cNvPr id="13" name="Shape 11"/>
          <p:cNvSpPr/>
          <p:nvPr/>
        </p:nvSpPr>
        <p:spPr>
          <a:xfrm>
            <a:off x="5760720" y="2194560"/>
            <a:ext cx="868680" cy="868680"/>
          </a:xfrm>
          <a:prstGeom prst="ellipse">
            <a:avLst/>
          </a:prstGeom>
          <a:solidFill>
            <a:srgbClr val="8B4513"/>
          </a:solidFill>
          <a:ln/>
        </p:spPr>
      </p:sp>
      <p:sp>
        <p:nvSpPr>
          <p:cNvPr id="14" name="Text 12"/>
          <p:cNvSpPr/>
          <p:nvPr/>
        </p:nvSpPr>
        <p:spPr>
          <a:xfrm>
            <a:off x="5760720" y="21945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3</a:t>
            </a:r>
            <a:endParaRPr lang="en-US" sz="3000" dirty="0"/>
          </a:p>
        </p:txBody>
      </p:sp>
      <p:sp>
        <p:nvSpPr>
          <p:cNvPr id="15" name="Text 13"/>
          <p:cNvSpPr/>
          <p:nvPr/>
        </p:nvSpPr>
        <p:spPr>
          <a:xfrm>
            <a:off x="5257800" y="3246120"/>
            <a:ext cx="18745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Facture PDF</a:t>
            </a:r>
            <a:endParaRPr lang="en-US" sz="1600" dirty="0"/>
          </a:p>
        </p:txBody>
      </p:sp>
      <p:sp>
        <p:nvSpPr>
          <p:cNvPr id="16" name="Text 14"/>
          <p:cNvSpPr/>
          <p:nvPr/>
        </p:nvSpPr>
        <p:spPr>
          <a:xfrm>
            <a:off x="5257800" y="3611880"/>
            <a:ext cx="1874520" cy="640080"/>
          </a:xfrm>
          <a:prstGeom prst="rect">
            <a:avLst/>
          </a:prstGeom>
          <a:noFill/>
          <a:ln/>
        </p:spPr>
        <p:txBody>
          <a:bodyPr wrap="square" lIns="0" tIns="0" rIns="0" bIns="0" rtlCol="0" anchor="ctr"/>
          <a:lstStyle/>
          <a:p>
            <a:pPr algn="ctr" indent="0" marL="0">
              <a:buNone/>
            </a:pPr>
            <a:r>
              <a:rPr lang="en-US" sz="1200" dirty="0">
                <a:solidFill>
                  <a:srgbClr val="EFE7DB"/>
                </a:solidFill>
                <a:latin typeface="Calibri" pitchFamily="34" charset="0"/>
                <a:ea typeface="Calibri" pitchFamily="34" charset="-122"/>
                <a:cs typeface="Calibri" pitchFamily="34" charset="-120"/>
              </a:rPr>
              <a:t>téléchargée</a:t>
            </a:r>
            <a:endParaRPr lang="en-US" sz="1200" dirty="0"/>
          </a:p>
        </p:txBody>
      </p:sp>
      <p:sp>
        <p:nvSpPr>
          <p:cNvPr id="17" name="Text 15"/>
          <p:cNvSpPr/>
          <p:nvPr/>
        </p:nvSpPr>
        <p:spPr>
          <a:xfrm>
            <a:off x="7040880" y="2194560"/>
            <a:ext cx="548640" cy="868680"/>
          </a:xfrm>
          <a:prstGeom prst="rect">
            <a:avLst/>
          </a:prstGeom>
          <a:noFill/>
          <a:ln/>
        </p:spPr>
        <p:txBody>
          <a:bodyPr wrap="square" lIns="0" tIns="0" rIns="0" bIns="0" rtlCol="0" anchor="ctr"/>
          <a:lstStyle/>
          <a:p>
            <a:pPr algn="ctr" indent="0" marL="0">
              <a:buNone/>
            </a:pPr>
            <a:r>
              <a:rPr lang="en-US" sz="2600" b="1" dirty="0">
                <a:solidFill>
                  <a:srgbClr val="6B7C3F"/>
                </a:solidFill>
                <a:latin typeface="Calibri" pitchFamily="34" charset="0"/>
                <a:ea typeface="Calibri" pitchFamily="34" charset="-122"/>
                <a:cs typeface="Calibri" pitchFamily="34" charset="-120"/>
              </a:rPr>
              <a:t>→</a:t>
            </a:r>
            <a:endParaRPr lang="en-US" sz="2600" dirty="0"/>
          </a:p>
        </p:txBody>
      </p:sp>
      <p:sp>
        <p:nvSpPr>
          <p:cNvPr id="18" name="Shape 16"/>
          <p:cNvSpPr/>
          <p:nvPr/>
        </p:nvSpPr>
        <p:spPr>
          <a:xfrm>
            <a:off x="8046720" y="2194560"/>
            <a:ext cx="868680" cy="868680"/>
          </a:xfrm>
          <a:prstGeom prst="ellipse">
            <a:avLst/>
          </a:prstGeom>
          <a:solidFill>
            <a:srgbClr val="8B4513"/>
          </a:solidFill>
          <a:ln/>
        </p:spPr>
      </p:sp>
      <p:sp>
        <p:nvSpPr>
          <p:cNvPr id="19" name="Text 17"/>
          <p:cNvSpPr/>
          <p:nvPr/>
        </p:nvSpPr>
        <p:spPr>
          <a:xfrm>
            <a:off x="8046720" y="21945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4</a:t>
            </a:r>
            <a:endParaRPr lang="en-US" sz="3000" dirty="0"/>
          </a:p>
        </p:txBody>
      </p:sp>
      <p:sp>
        <p:nvSpPr>
          <p:cNvPr id="20" name="Text 18"/>
          <p:cNvSpPr/>
          <p:nvPr/>
        </p:nvSpPr>
        <p:spPr>
          <a:xfrm>
            <a:off x="7543800" y="3246120"/>
            <a:ext cx="18745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Vendeur</a:t>
            </a:r>
            <a:endParaRPr lang="en-US" sz="1600" dirty="0"/>
          </a:p>
        </p:txBody>
      </p:sp>
      <p:sp>
        <p:nvSpPr>
          <p:cNvPr id="21" name="Text 19"/>
          <p:cNvSpPr/>
          <p:nvPr/>
        </p:nvSpPr>
        <p:spPr>
          <a:xfrm>
            <a:off x="7543800" y="3611880"/>
            <a:ext cx="1874520" cy="640080"/>
          </a:xfrm>
          <a:prstGeom prst="rect">
            <a:avLst/>
          </a:prstGeom>
          <a:noFill/>
          <a:ln/>
        </p:spPr>
        <p:txBody>
          <a:bodyPr wrap="square" lIns="0" tIns="0" rIns="0" bIns="0" rtlCol="0" anchor="ctr"/>
          <a:lstStyle/>
          <a:p>
            <a:pPr algn="ctr" indent="0" marL="0">
              <a:buNone/>
            </a:pPr>
            <a:r>
              <a:rPr lang="en-US" sz="1200" dirty="0">
                <a:solidFill>
                  <a:srgbClr val="EFE7DB"/>
                </a:solidFill>
                <a:latin typeface="Calibri" pitchFamily="34" charset="0"/>
                <a:ea typeface="Calibri" pitchFamily="34" charset="-122"/>
                <a:cs typeface="Calibri" pitchFamily="34" charset="-120"/>
              </a:rPr>
              <a:t>statut + dashboard à jour</a:t>
            </a:r>
            <a:endParaRPr lang="en-US" sz="1200" dirty="0"/>
          </a:p>
        </p:txBody>
      </p:sp>
      <p:sp>
        <p:nvSpPr>
          <p:cNvPr id="22" name="Text 20"/>
          <p:cNvSpPr/>
          <p:nvPr/>
        </p:nvSpPr>
        <p:spPr>
          <a:xfrm>
            <a:off x="9326880" y="2194560"/>
            <a:ext cx="548640" cy="868680"/>
          </a:xfrm>
          <a:prstGeom prst="rect">
            <a:avLst/>
          </a:prstGeom>
          <a:noFill/>
          <a:ln/>
        </p:spPr>
        <p:txBody>
          <a:bodyPr wrap="square" lIns="0" tIns="0" rIns="0" bIns="0" rtlCol="0" anchor="ctr"/>
          <a:lstStyle/>
          <a:p>
            <a:pPr algn="ctr" indent="0" marL="0">
              <a:buNone/>
            </a:pPr>
            <a:r>
              <a:rPr lang="en-US" sz="2600" b="1" dirty="0">
                <a:solidFill>
                  <a:srgbClr val="6B7C3F"/>
                </a:solidFill>
                <a:latin typeface="Calibri" pitchFamily="34" charset="0"/>
                <a:ea typeface="Calibri" pitchFamily="34" charset="-122"/>
                <a:cs typeface="Calibri" pitchFamily="34" charset="-120"/>
              </a:rPr>
              <a:t>→</a:t>
            </a:r>
            <a:endParaRPr lang="en-US" sz="2600" dirty="0"/>
          </a:p>
        </p:txBody>
      </p:sp>
      <p:sp>
        <p:nvSpPr>
          <p:cNvPr id="23" name="Shape 21"/>
          <p:cNvSpPr/>
          <p:nvPr/>
        </p:nvSpPr>
        <p:spPr>
          <a:xfrm>
            <a:off x="10332720" y="2194560"/>
            <a:ext cx="868680" cy="868680"/>
          </a:xfrm>
          <a:prstGeom prst="ellipse">
            <a:avLst/>
          </a:prstGeom>
          <a:solidFill>
            <a:srgbClr val="8B4513"/>
          </a:solidFill>
          <a:ln/>
        </p:spPr>
      </p:sp>
      <p:sp>
        <p:nvSpPr>
          <p:cNvPr id="24" name="Text 22"/>
          <p:cNvSpPr/>
          <p:nvPr/>
        </p:nvSpPr>
        <p:spPr>
          <a:xfrm>
            <a:off x="10332720" y="21945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5</a:t>
            </a:r>
            <a:endParaRPr lang="en-US" sz="3000" dirty="0"/>
          </a:p>
        </p:txBody>
      </p:sp>
      <p:sp>
        <p:nvSpPr>
          <p:cNvPr id="25" name="Text 23"/>
          <p:cNvSpPr/>
          <p:nvPr/>
        </p:nvSpPr>
        <p:spPr>
          <a:xfrm>
            <a:off x="9829800" y="3246120"/>
            <a:ext cx="18745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Mobile</a:t>
            </a:r>
            <a:endParaRPr lang="en-US" sz="1600" dirty="0"/>
          </a:p>
        </p:txBody>
      </p:sp>
      <p:sp>
        <p:nvSpPr>
          <p:cNvPr id="26" name="Text 24"/>
          <p:cNvSpPr/>
          <p:nvPr/>
        </p:nvSpPr>
        <p:spPr>
          <a:xfrm>
            <a:off x="9829800" y="3611880"/>
            <a:ext cx="1874520" cy="640080"/>
          </a:xfrm>
          <a:prstGeom prst="rect">
            <a:avLst/>
          </a:prstGeom>
          <a:noFill/>
          <a:ln/>
        </p:spPr>
        <p:txBody>
          <a:bodyPr wrap="square" lIns="0" tIns="0" rIns="0" bIns="0" rtlCol="0" anchor="ctr"/>
          <a:lstStyle/>
          <a:p>
            <a:pPr algn="ctr" indent="0" marL="0">
              <a:buNone/>
            </a:pPr>
            <a:r>
              <a:rPr lang="en-US" sz="1200" dirty="0">
                <a:solidFill>
                  <a:srgbClr val="EFE7DB"/>
                </a:solidFill>
                <a:latin typeface="Calibri" pitchFamily="34" charset="0"/>
                <a:ea typeface="Calibri" pitchFamily="34" charset="-122"/>
                <a:cs typeface="Calibri" pitchFamily="34" charset="-120"/>
              </a:rPr>
              <a:t>catalogue + connexion</a:t>
            </a:r>
            <a:endParaRPr lang="en-US" sz="1200" dirty="0"/>
          </a:p>
        </p:txBody>
      </p:sp>
      <p:sp>
        <p:nvSpPr>
          <p:cNvPr id="27" name="Text 25"/>
          <p:cNvSpPr/>
          <p:nvPr/>
        </p:nvSpPr>
        <p:spPr>
          <a:xfrm>
            <a:off x="685800" y="4937760"/>
            <a:ext cx="10789920" cy="365760"/>
          </a:xfrm>
          <a:prstGeom prst="rect">
            <a:avLst/>
          </a:prstGeom>
          <a:noFill/>
          <a:ln/>
        </p:spPr>
        <p:txBody>
          <a:bodyPr wrap="square" lIns="0" tIns="0" rIns="0" bIns="0" rtlCol="0" anchor="ctr"/>
          <a:lstStyle/>
          <a:p>
            <a:pPr algn="ctr" indent="0" marL="0">
              <a:buNone/>
            </a:pPr>
            <a:r>
              <a:rPr lang="en-US" sz="1400" i="1" dirty="0">
                <a:solidFill>
                  <a:srgbClr val="B8A894"/>
                </a:solidFill>
                <a:latin typeface="Calibri" pitchFamily="34" charset="0"/>
                <a:ea typeface="Calibri" pitchFamily="34" charset="-122"/>
                <a:cs typeface="Calibri" pitchFamily="34" charset="-120"/>
              </a:rPr>
              <a:t>Parcours complet, deux comptes — en cas de pépin, bascule sur les captures de secours.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A211C"/>
        </a:solidFill>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Bilan &amp; perspectives</a:t>
            </a:r>
            <a:endParaRPr lang="en-US" sz="3200" dirty="0"/>
          </a:p>
        </p:txBody>
      </p:sp>
      <p:sp>
        <p:nvSpPr>
          <p:cNvPr id="3" name="Text 1"/>
          <p:cNvSpPr/>
          <p:nvPr/>
        </p:nvSpPr>
        <p:spPr>
          <a:xfrm>
            <a:off x="640080" y="1417320"/>
            <a:ext cx="5029200" cy="365760"/>
          </a:xfrm>
          <a:prstGeom prst="rect">
            <a:avLst/>
          </a:prstGeom>
          <a:noFill/>
          <a:ln/>
        </p:spPr>
        <p:txBody>
          <a:bodyPr wrap="square" lIns="0" tIns="0" rIns="0" bIns="0" rtlCol="0" anchor="ctr"/>
          <a:lstStyle/>
          <a:p>
            <a:pPr indent="0" marL="0">
              <a:buNone/>
            </a:pPr>
            <a:r>
              <a:rPr lang="en-US" sz="2000" b="1" dirty="0">
                <a:solidFill>
                  <a:srgbClr val="6B7C3F"/>
                </a:solidFill>
                <a:latin typeface="Cambria" pitchFamily="34" charset="0"/>
                <a:ea typeface="Cambria" pitchFamily="34" charset="-122"/>
                <a:cs typeface="Cambria" pitchFamily="34" charset="-120"/>
              </a:rPr>
              <a:t>Bilan</a:t>
            </a:r>
            <a:endParaRPr lang="en-US" sz="2000" dirty="0"/>
          </a:p>
        </p:txBody>
      </p:sp>
      <p:sp>
        <p:nvSpPr>
          <p:cNvPr id="4" name="Text 2"/>
          <p:cNvSpPr/>
          <p:nvPr/>
        </p:nvSpPr>
        <p:spPr>
          <a:xfrm>
            <a:off x="640080" y="1920240"/>
            <a:ext cx="5669280" cy="3474720"/>
          </a:xfrm>
          <a:prstGeom prst="rect">
            <a:avLst/>
          </a:prstGeom>
          <a:noFill/>
          <a:ln/>
        </p:spPr>
        <p:txBody>
          <a:bodyPr wrap="square" lIns="0" tIns="0" rIns="0" bIns="0" rtlCol="0" anchor="t"/>
          <a:lstStyle/>
          <a:p>
            <a:pPr marL="177800" indent="-177800">
              <a:spcAft>
                <a:spcPts val="1100"/>
              </a:spcAft>
              <a:buSzPct val="100000"/>
              <a:buChar char="•"/>
            </a:pPr>
            <a:r>
              <a:rPr lang="en-US" sz="1400" dirty="0">
                <a:solidFill>
                  <a:srgbClr val="FFFFFF"/>
                </a:solidFill>
                <a:latin typeface="Calibri" pitchFamily="34" charset="0"/>
                <a:ea typeface="Calibri" pitchFamily="34" charset="-122"/>
                <a:cs typeface="Calibri" pitchFamily="34" charset="-120"/>
              </a:rPr>
              <a:t>Marketplace complète : 3 rôles, IA, back-office, mobile fonctionnel</a:t>
            </a:r>
            <a:endParaRPr lang="en-US" sz="1400" dirty="0"/>
          </a:p>
          <a:p>
            <a:pPr marL="177800" indent="-177800">
              <a:spcAft>
                <a:spcPts val="1100"/>
              </a:spcAft>
              <a:buSzPct val="100000"/>
              <a:buChar char="•"/>
            </a:pPr>
            <a:r>
              <a:rPr lang="en-US" sz="1400" dirty="0">
                <a:solidFill>
                  <a:srgbClr val="FFFFFF"/>
                </a:solidFill>
                <a:latin typeface="Calibri" pitchFamily="34" charset="0"/>
                <a:ea typeface="Calibri" pitchFamily="34" charset="-122"/>
                <a:cs typeface="Calibri" pitchFamily="34" charset="-120"/>
              </a:rPr>
              <a:t>API Laravel documentée (OpenAPI/Swagger), servant web et mobile</a:t>
            </a:r>
            <a:endParaRPr lang="en-US" sz="1400" dirty="0"/>
          </a:p>
          <a:p>
            <a:pPr marL="177800" indent="-177800">
              <a:spcAft>
                <a:spcPts val="1100"/>
              </a:spcAft>
              <a:buSzPct val="100000"/>
              <a:buChar char="•"/>
            </a:pPr>
            <a:r>
              <a:rPr lang="en-US" sz="1400" dirty="0">
                <a:solidFill>
                  <a:srgbClr val="FFFFFF"/>
                </a:solidFill>
                <a:latin typeface="Calibri" pitchFamily="34" charset="0"/>
                <a:ea typeface="Calibri" pitchFamily="34" charset="-122"/>
                <a:cs typeface="Calibri" pitchFamily="34" charset="-120"/>
              </a:rPr>
              <a:t>Données robustes : transactions, snapshots, triggers, event J+14</a:t>
            </a:r>
            <a:endParaRPr lang="en-US" sz="1400" dirty="0"/>
          </a:p>
          <a:p>
            <a:pPr marL="177800" indent="-177800">
              <a:spcAft>
                <a:spcPts val="1100"/>
              </a:spcAft>
              <a:buSzPct val="100000"/>
              <a:buChar char="•"/>
            </a:pPr>
            <a:r>
              <a:rPr lang="en-US" sz="1400" dirty="0">
                <a:solidFill>
                  <a:srgbClr val="FFFFFF"/>
                </a:solidFill>
                <a:latin typeface="Calibri" pitchFamily="34" charset="0"/>
                <a:ea typeface="Calibri" pitchFamily="34" charset="-122"/>
                <a:cs typeface="Calibri" pitchFamily="34" charset="-120"/>
              </a:rPr>
              <a:t>Organisation : Git (branches, commits), gestion des risques</a:t>
            </a:r>
            <a:endParaRPr lang="en-US" sz="1400" dirty="0"/>
          </a:p>
          <a:p>
            <a:pPr marL="177800" indent="-177800">
              <a:spcAft>
                <a:spcPts val="1100"/>
              </a:spcAft>
              <a:buSzPct val="100000"/>
              <a:buChar char="•"/>
            </a:pPr>
            <a:r>
              <a:rPr lang="en-US" sz="1400" dirty="0">
                <a:solidFill>
                  <a:srgbClr val="FFFFFF"/>
                </a:solidFill>
                <a:latin typeface="Calibri" pitchFamily="34" charset="0"/>
                <a:ea typeface="Calibri" pitchFamily="34" charset="-122"/>
                <a:cs typeface="Calibri" pitchFamily="34" charset="-120"/>
              </a:rPr>
              <a:t>Difficultés &amp; apprentissage : reconstruction v1→v2, portage mobile</a:t>
            </a:r>
            <a:endParaRPr lang="en-US" sz="1400" dirty="0"/>
          </a:p>
        </p:txBody>
      </p:sp>
      <p:sp>
        <p:nvSpPr>
          <p:cNvPr id="5" name="Text 3"/>
          <p:cNvSpPr/>
          <p:nvPr/>
        </p:nvSpPr>
        <p:spPr>
          <a:xfrm>
            <a:off x="6675120" y="1417320"/>
            <a:ext cx="4572000" cy="365760"/>
          </a:xfrm>
          <a:prstGeom prst="rect">
            <a:avLst/>
          </a:prstGeom>
          <a:noFill/>
          <a:ln/>
        </p:spPr>
        <p:txBody>
          <a:bodyPr wrap="square" lIns="0" tIns="0" rIns="0" bIns="0" rtlCol="0" anchor="ctr"/>
          <a:lstStyle/>
          <a:p>
            <a:pPr indent="0" marL="0">
              <a:buNone/>
            </a:pPr>
            <a:r>
              <a:rPr lang="en-US" sz="2000" b="1" dirty="0">
                <a:solidFill>
                  <a:srgbClr val="C8860B"/>
                </a:solidFill>
                <a:latin typeface="Cambria" pitchFamily="34" charset="0"/>
                <a:ea typeface="Cambria" pitchFamily="34" charset="-122"/>
                <a:cs typeface="Cambria" pitchFamily="34" charset="-120"/>
              </a:rPr>
              <a:t>Perspectives</a:t>
            </a:r>
            <a:endParaRPr lang="en-US" sz="2000" dirty="0"/>
          </a:p>
        </p:txBody>
      </p:sp>
      <p:sp>
        <p:nvSpPr>
          <p:cNvPr id="6" name="Text 4"/>
          <p:cNvSpPr/>
          <p:nvPr/>
        </p:nvSpPr>
        <p:spPr>
          <a:xfrm>
            <a:off x="6675120" y="1920240"/>
            <a:ext cx="4846320" cy="292608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Paiement réel (Stripe) — architecture déjà prête</a:t>
            </a:r>
            <a:endParaRPr lang="en-US" sz="1400" dirty="0"/>
          </a:p>
          <a:p>
            <a:pPr marL="177800" indent="-1778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Messagerie acheteur ↔ artisan</a:t>
            </a:r>
            <a:endParaRPr lang="en-US" sz="1400" dirty="0"/>
          </a:p>
          <a:p>
            <a:pPr marL="177800" indent="-1778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Notifications push (mobile)</a:t>
            </a:r>
            <a:endParaRPr lang="en-US" sz="1400" dirty="0"/>
          </a:p>
          <a:p>
            <a:pPr marL="177800" indent="-1778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Déploiement + CI/CD complet</a:t>
            </a:r>
            <a:endParaRPr lang="en-US" sz="1400" dirty="0"/>
          </a:p>
        </p:txBody>
      </p:sp>
      <p:sp>
        <p:nvSpPr>
          <p:cNvPr id="7" name="Text 5"/>
          <p:cNvSpPr/>
          <p:nvPr/>
        </p:nvSpPr>
        <p:spPr>
          <a:xfrm>
            <a:off x="640080" y="5806440"/>
            <a:ext cx="10881360" cy="457200"/>
          </a:xfrm>
          <a:prstGeom prst="rect">
            <a:avLst/>
          </a:prstGeom>
          <a:noFill/>
          <a:ln/>
        </p:spPr>
        <p:txBody>
          <a:bodyPr wrap="square" lIns="0" tIns="0" rIns="0" bIns="0" rtlCol="0" anchor="ctr"/>
          <a:lstStyle/>
          <a:p>
            <a:pPr algn="ctr" indent="0" marL="0">
              <a:buNone/>
            </a:pPr>
            <a:r>
              <a:rPr lang="en-US" sz="1800" i="1" dirty="0">
                <a:solidFill>
                  <a:srgbClr val="EFE7DB"/>
                </a:solidFill>
                <a:latin typeface="Cambria" pitchFamily="34" charset="0"/>
                <a:ea typeface="Cambria" pitchFamily="34" charset="-122"/>
                <a:cs typeface="Cambria" pitchFamily="34" charset="-120"/>
              </a:rPr>
              <a:t>Merci de votre attention — place aux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2026-07-28T14:04:31Z</dcterms:created>
  <dcterms:modified xsi:type="dcterms:W3CDTF">2026-07-28T14:04:31Z</dcterms:modified>
</cp:coreProperties>
</file>