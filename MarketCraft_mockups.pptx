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Bonjour, je vais vous présenter MarketCraft, une marketplace dédiée à l'artisanat.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de la présentation en neuf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artisans manquent de visibilité en ligne ; les grandes plateformes généralistes noient leurs créations. MarketCraft leur offre un canal dédié.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volets d'objectifs : fonctionnels côté usage, techniques côté réalisation.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Synthèse du cahier des charges : acteurs, exigences fonctionnelles et non fonctionnelles.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Maquettes haute-fidélité réalisées en amont : 14 écrans couvrant les parcours acheteur et vendeur.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Diagramme de cas d'utilisation : trois acteurs, le vendeur hérite des cas de l'acheteur.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: React 18 + Tailwind côté client, PHP 8.1 en API REST, MySQL en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Justification : maturité, écosystème, adéquation au besoin, compétences de l'équipe.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trois tiers : client React, API REST PHP, base MySQL.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Séquence du cas central : passage d'une commande, avec transaction SQL et décrément du stock.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MCD : six entités principales. Un utilisateur vendeur possède une boutique ; une commande contient plusieurs lignes.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MPD : traduction en tables relationnelles, l'association contient devient la table lignes_commande.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Cycle de vie d'une commande, côté acheteur puis côté vendeur.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niveaux de tests : unitaires sur l'API, fonctionnels sur les parcours, interface sur le rendu.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 à la démonstration en direct : parcours acheteur puis espace vendeur.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Bilan : objectifs atteints. Perspectives : paiement en ligne, messagerie, application mobile native.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4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0600" y="3190875"/>
            <a:ext cx="1066800" cy="1066800"/>
          </a:xfrm>
          <a:prstGeom prst="roundRect">
            <a:avLst>
              <a:gd name="adj" fmla="val 25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82025" y="3200400"/>
            <a:ext cx="112395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🔨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6391424" y="4562475"/>
            <a:ext cx="6055504" cy="117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MarketCraft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4630936" y="6000750"/>
            <a:ext cx="992857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FAE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et développement d'une marketplace artisanale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266533" y="6762750"/>
            <a:ext cx="413026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Soutenance de projet · Juillet 2026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3190875"/>
            <a:ext cx="167640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524000" y="4352925"/>
            <a:ext cx="533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171700" y="4362450"/>
            <a:ext cx="25044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et enjeux</a:t>
            </a:r>
            <a:endParaRPr lang="en-US" sz="2175" dirty="0"/>
          </a:p>
        </p:txBody>
      </p:sp>
      <p:sp>
        <p:nvSpPr>
          <p:cNvPr id="5" name="Text 3"/>
          <p:cNvSpPr/>
          <p:nvPr/>
        </p:nvSpPr>
        <p:spPr>
          <a:xfrm>
            <a:off x="9525000" y="4352925"/>
            <a:ext cx="533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0172700" y="4362450"/>
            <a:ext cx="479656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fonctionnels et techniques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1524000" y="4943475"/>
            <a:ext cx="533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2171700" y="4953000"/>
            <a:ext cx="484633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des besoins et modélisation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9525000" y="4943475"/>
            <a:ext cx="533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0172700" y="4953000"/>
            <a:ext cx="290144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Choix technologiques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1524000" y="5534025"/>
            <a:ext cx="533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2171700" y="5543550"/>
            <a:ext cx="304191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technique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9525000" y="5534025"/>
            <a:ext cx="533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0172700" y="5543550"/>
            <a:ext cx="562199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des données et des processus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1524000" y="6124575"/>
            <a:ext cx="533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2171700" y="6134100"/>
            <a:ext cx="351831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de test et validation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9525000" y="6124575"/>
            <a:ext cx="533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0172700" y="6134100"/>
            <a:ext cx="413059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 de l'application</a:t>
            </a:r>
            <a:endParaRPr lang="en-US" sz="2175" dirty="0"/>
          </a:p>
        </p:txBody>
      </p:sp>
      <p:sp>
        <p:nvSpPr>
          <p:cNvPr id="19" name="Text 17"/>
          <p:cNvSpPr/>
          <p:nvPr/>
        </p:nvSpPr>
        <p:spPr>
          <a:xfrm>
            <a:off x="1524000" y="6715125"/>
            <a:ext cx="5334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2171700" y="6724650"/>
            <a:ext cx="515132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et perspectives d'évolution</a:t>
            </a:r>
            <a:endParaRPr lang="en-US" sz="21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857250"/>
            <a:ext cx="171831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B7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333500" y="1266825"/>
            <a:ext cx="171831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et enjeux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333500" y="2419350"/>
            <a:ext cx="7639050" cy="7010400"/>
          </a:xfrm>
          <a:prstGeom prst="roundRect">
            <a:avLst>
              <a:gd name="adj" fmla="val 2717"/>
            </a:avLst>
          </a:prstGeom>
          <a:solidFill>
            <a:srgbClr val="FFFFFF"/>
          </a:solidFill>
          <a:ln w="9525">
            <a:solidFill>
              <a:srgbClr val="E0D2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62125" y="2847975"/>
            <a:ext cx="745998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constat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762125" y="3438525"/>
            <a:ext cx="6985254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artisans disposent rarement d'une vitrine numérique adaptée : sites personnels coûteux, marketplaces généralistes où leurs créations sont noyées parmi les produits industriels.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762125" y="4855666"/>
            <a:ext cx="6985254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4"/>
              </a:lnSpc>
              <a:buNone/>
            </a:pPr>
            <a:r>
              <a:rPr lang="en-US" sz="1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Côté acheteurs, une demande croissante pour des produits authentiques, faits main et traçables.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315450" y="2419350"/>
            <a:ext cx="7639050" cy="7010400"/>
          </a:xfrm>
          <a:prstGeom prst="roundRect">
            <a:avLst>
              <a:gd name="adj" fmla="val 2717"/>
            </a:avLst>
          </a:prstGeom>
          <a:solidFill>
            <a:srgbClr val="FFFFFF"/>
          </a:solidFill>
          <a:ln w="9525">
            <a:solidFill>
              <a:srgbClr val="E0D2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44075" y="2847975"/>
            <a:ext cx="745998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enjeux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744075" y="3438525"/>
            <a:ext cx="41627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🏺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236547" y="3438525"/>
            <a:ext cx="655105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Donner aux artisans une boutique en ligne clé en main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744075" y="3943350"/>
            <a:ext cx="41627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236547" y="3943350"/>
            <a:ext cx="578718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Mettre en relation directe créateurs et acheteurs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744075" y="4448175"/>
            <a:ext cx="41627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236547" y="4448175"/>
            <a:ext cx="561430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Garantir un parcours d'achat simple et sécurisé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744075" y="4953000"/>
            <a:ext cx="41627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236547" y="4953000"/>
            <a:ext cx="601686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Fournir des outils de pilotage (ventes, statistiques)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857250"/>
            <a:ext cx="171831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B7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333500" y="1266825"/>
            <a:ext cx="171831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fonctionnels et techniques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333500" y="2419350"/>
            <a:ext cx="7639050" cy="7010400"/>
          </a:xfrm>
          <a:prstGeom prst="roundRect">
            <a:avLst>
              <a:gd name="adj" fmla="val 2717"/>
            </a:avLst>
          </a:prstGeom>
          <a:solidFill>
            <a:srgbClr val="FFFFFF"/>
          </a:solidFill>
          <a:ln w="9525">
            <a:solidFill>
              <a:srgbClr val="E0D2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62125" y="2847975"/>
            <a:ext cx="745998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🛍 Objectifs fonctionnels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762125" y="3552825"/>
            <a:ext cx="74599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Catalogue de produits avec recherche, filtres et tri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762125" y="4019550"/>
            <a:ext cx="74599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Fiches produits : galerie, stock, avis clients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762125" y="4486275"/>
            <a:ext cx="74599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Panier et tunnel de commande complet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762125" y="4953000"/>
            <a:ext cx="74599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Comptes à deux rôles : acheteur / artisan-vendeur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762125" y="5419725"/>
            <a:ext cx="74599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Espace vendeur : produits, commandes, boutique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762125" y="5886450"/>
            <a:ext cx="74599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Statistiques acheteur et vendeur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315450" y="2419350"/>
            <a:ext cx="7639050" cy="7010400"/>
          </a:xfrm>
          <a:prstGeom prst="roundRect">
            <a:avLst>
              <a:gd name="adj" fmla="val 2717"/>
            </a:avLst>
          </a:prstGeom>
          <a:solidFill>
            <a:srgbClr val="FFFFFF"/>
          </a:solidFill>
          <a:ln w="9525">
            <a:solidFill>
              <a:srgbClr val="E0D2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44075" y="2847975"/>
            <a:ext cx="745998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⚙️ Objectifs techniques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744075" y="3552825"/>
            <a:ext cx="74599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Architecture client / serveur découplée (API REST)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9744075" y="4019550"/>
            <a:ext cx="74599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Interface réactive, responsive desktop et mobile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9744075" y="4486275"/>
            <a:ext cx="74599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Base de données relationnelle normalisée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9744075" y="4953000"/>
            <a:ext cx="74599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Authentification sécurisée et gestion des rôles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9744075" y="5419725"/>
            <a:ext cx="74599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Code maintenable : composants réutilisables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9744075" y="5886450"/>
            <a:ext cx="74599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Couverture de tests fonctionnels et unitaires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857250"/>
            <a:ext cx="171831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B7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Analyse des besoins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333500" y="1266825"/>
            <a:ext cx="171831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Cahier des charges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333500" y="2343150"/>
            <a:ext cx="5016401" cy="7086600"/>
          </a:xfrm>
          <a:prstGeom prst="roundRect">
            <a:avLst>
              <a:gd name="adj" fmla="val 3798"/>
            </a:avLst>
          </a:prstGeom>
          <a:solidFill>
            <a:srgbClr val="FFFFFF"/>
          </a:solidFill>
          <a:ln w="9525">
            <a:solidFill>
              <a:srgbClr val="E0D2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04975" y="2714625"/>
            <a:ext cx="470079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👥 Acteurs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704975" y="3324225"/>
            <a:ext cx="47007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Visiteur </a:t>
            </a:r>
            <a:pPr algn="l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consulte le catalogue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04975" y="3762375"/>
            <a:ext cx="4401654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Acheteur </a:t>
            </a:r>
            <a:pPr algn="l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commande, note, suit ses achats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04975" y="4505325"/>
            <a:ext cx="4401654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Vendeur </a:t>
            </a:r>
            <a:pPr algn="l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gère boutique, produits, commandes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635651" y="2343150"/>
            <a:ext cx="5016550" cy="708660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9525">
            <a:solidFill>
              <a:srgbClr val="E0D2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07126" y="2714625"/>
            <a:ext cx="470096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Exigences fonctionnelles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7007126" y="3324225"/>
            <a:ext cx="47009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Inscription / connexion par rôle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07126" y="3743325"/>
            <a:ext cx="47009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CRUD produits et boutiques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07126" y="4162425"/>
            <a:ext cx="47009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Panier persistant, calcul livraison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07126" y="4581525"/>
            <a:ext cx="47009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Suivi de commande par statut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07126" y="5000625"/>
            <a:ext cx="47009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Système d'avis avec notes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937950" y="2343150"/>
            <a:ext cx="5016550" cy="708660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9525">
            <a:solidFill>
              <a:srgbClr val="E0D2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09425" y="2714625"/>
            <a:ext cx="4401808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🛡️ Exigences non fonctionnelles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2309425" y="3657600"/>
            <a:ext cx="440180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Sécurité : mots de passe hachés, sessions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09425" y="4381500"/>
            <a:ext cx="47009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: pages &lt; 2 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09425" y="4800600"/>
            <a:ext cx="47009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Responsive desktop / mobile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09425" y="5219700"/>
            <a:ext cx="440180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Ergonomie : parcours d'achat en 3 étapes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310887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B7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Analyse des besoins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171575"/>
            <a:ext cx="310887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Maquettes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3953976" y="762000"/>
            <a:ext cx="35101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A8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écrans · desktop &amp; mobile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143000" y="2171700"/>
            <a:ext cx="3848100" cy="1923008"/>
          </a:xfrm>
          <a:prstGeom prst="roundRect">
            <a:avLst>
              <a:gd name="adj" fmla="val 5944"/>
            </a:avLst>
          </a:prstGeom>
          <a:ln w="9525">
            <a:solidFill>
              <a:srgbClr val="E0D2B8"/>
            </a:solidFill>
            <a:prstDash val="solid"/>
          </a:ln>
          <a:effectLst>
            <a:outerShdw sx="100000" sy="100000" kx="0" ky="0" algn="bl" rotWithShape="0" blurRad="228600" dist="95250" dir="5400000">
              <a:srgbClr val="8B4513">
                <a:alpha val="1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71700"/>
            <a:ext cx="3848100" cy="19230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1547" y="4189958"/>
            <a:ext cx="421195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Accueil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200650" y="2171700"/>
            <a:ext cx="3848100" cy="1923008"/>
          </a:xfrm>
          <a:prstGeom prst="roundRect">
            <a:avLst>
              <a:gd name="adj" fmla="val 5944"/>
            </a:avLst>
          </a:prstGeom>
          <a:ln w="9525">
            <a:solidFill>
              <a:srgbClr val="E0D2B8"/>
            </a:solidFill>
            <a:prstDash val="solid"/>
          </a:ln>
          <a:effectLst>
            <a:outerShdw sx="100000" sy="100000" kx="0" ky="0" algn="bl" rotWithShape="0" blurRad="228600" dist="95250" dir="5400000">
              <a:srgbClr val="8B4513">
                <a:alpha val="1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650" y="2171700"/>
            <a:ext cx="3848100" cy="19230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09198" y="4189958"/>
            <a:ext cx="421195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9258300" y="2171700"/>
            <a:ext cx="3848100" cy="1923008"/>
          </a:xfrm>
          <a:prstGeom prst="roundRect">
            <a:avLst>
              <a:gd name="adj" fmla="val 5944"/>
            </a:avLst>
          </a:prstGeom>
          <a:ln w="9525">
            <a:solidFill>
              <a:srgbClr val="E0D2B8"/>
            </a:solidFill>
            <a:prstDash val="solid"/>
          </a:ln>
          <a:effectLst>
            <a:outerShdw sx="100000" sy="100000" kx="0" ky="0" algn="bl" rotWithShape="0" blurRad="228600" dist="95250" dir="5400000">
              <a:srgbClr val="8B4513">
                <a:alpha val="1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0" y="2171700"/>
            <a:ext cx="3848100" cy="19230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066848" y="4189958"/>
            <a:ext cx="421195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Fiche produit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13315950" y="2171700"/>
            <a:ext cx="3848100" cy="1923008"/>
          </a:xfrm>
          <a:prstGeom prst="roundRect">
            <a:avLst>
              <a:gd name="adj" fmla="val 5944"/>
            </a:avLst>
          </a:prstGeom>
          <a:ln w="9525">
            <a:solidFill>
              <a:srgbClr val="E0D2B8"/>
            </a:solidFill>
            <a:prstDash val="solid"/>
          </a:ln>
          <a:effectLst>
            <a:outerShdw sx="100000" sy="100000" kx="0" ky="0" algn="bl" rotWithShape="0" blurRad="228600" dist="95250" dir="5400000">
              <a:srgbClr val="8B4513">
                <a:alpha val="15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5950" y="2171700"/>
            <a:ext cx="3848100" cy="19230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124498" y="4189958"/>
            <a:ext cx="421195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Panier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1143000" y="5962650"/>
            <a:ext cx="3848100" cy="1923008"/>
          </a:xfrm>
          <a:prstGeom prst="roundRect">
            <a:avLst>
              <a:gd name="adj" fmla="val 5944"/>
            </a:avLst>
          </a:prstGeom>
          <a:ln w="9525">
            <a:solidFill>
              <a:srgbClr val="E0D2B8"/>
            </a:solidFill>
            <a:prstDash val="solid"/>
          </a:ln>
          <a:effectLst>
            <a:outerShdw sx="100000" sy="100000" kx="0" ky="0" algn="bl" rotWithShape="0" blurRad="228600" dist="95250" dir="5400000">
              <a:srgbClr val="8B4513">
                <a:alpha val="15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5962650"/>
            <a:ext cx="3848100" cy="19230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51547" y="7980908"/>
            <a:ext cx="421195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</a:t>
            </a:r>
            <a:endParaRPr lang="en-US" sz="1800" dirty="0"/>
          </a:p>
        </p:txBody>
      </p:sp>
      <p:sp>
        <p:nvSpPr>
          <p:cNvPr id="20" name="Shape 13"/>
          <p:cNvSpPr/>
          <p:nvPr/>
        </p:nvSpPr>
        <p:spPr>
          <a:xfrm>
            <a:off x="5200650" y="5962650"/>
            <a:ext cx="3848100" cy="1923008"/>
          </a:xfrm>
          <a:prstGeom prst="roundRect">
            <a:avLst>
              <a:gd name="adj" fmla="val 5944"/>
            </a:avLst>
          </a:prstGeom>
          <a:ln w="9525">
            <a:solidFill>
              <a:srgbClr val="E0D2B8"/>
            </a:solidFill>
            <a:prstDash val="solid"/>
          </a:ln>
          <a:effectLst>
            <a:outerShdw sx="100000" sy="100000" kx="0" ky="0" algn="bl" rotWithShape="0" blurRad="228600" dist="95250" dir="5400000">
              <a:srgbClr val="8B4513">
                <a:alpha val="15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0650" y="5962650"/>
            <a:ext cx="3848100" cy="192300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009198" y="7980908"/>
            <a:ext cx="421195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Boutique</a:t>
            </a:r>
            <a:endParaRPr lang="en-US" sz="1800" dirty="0"/>
          </a:p>
        </p:txBody>
      </p:sp>
      <p:sp>
        <p:nvSpPr>
          <p:cNvPr id="23" name="Shape 15"/>
          <p:cNvSpPr/>
          <p:nvPr/>
        </p:nvSpPr>
        <p:spPr>
          <a:xfrm>
            <a:off x="9258300" y="5962650"/>
            <a:ext cx="3848100" cy="1923008"/>
          </a:xfrm>
          <a:prstGeom prst="roundRect">
            <a:avLst>
              <a:gd name="adj" fmla="val 5944"/>
            </a:avLst>
          </a:prstGeom>
          <a:ln w="9525">
            <a:solidFill>
              <a:srgbClr val="E0D2B8"/>
            </a:solidFill>
            <a:prstDash val="solid"/>
          </a:ln>
          <a:effectLst>
            <a:outerShdw sx="100000" sy="100000" kx="0" ky="0" algn="bl" rotWithShape="0" blurRad="228600" dist="95250" dir="5400000">
              <a:srgbClr val="8B4513">
                <a:alpha val="15000"/>
              </a:srgbClr>
            </a:outerShdw>
          </a:effectLst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8300" y="5962650"/>
            <a:ext cx="3848100" cy="192300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066848" y="7980908"/>
            <a:ext cx="421195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Statistiques</a:t>
            </a:r>
            <a:endParaRPr lang="en-US" sz="1800" dirty="0"/>
          </a:p>
        </p:txBody>
      </p:sp>
      <p:sp>
        <p:nvSpPr>
          <p:cNvPr id="26" name="Shape 17"/>
          <p:cNvSpPr/>
          <p:nvPr/>
        </p:nvSpPr>
        <p:spPr>
          <a:xfrm>
            <a:off x="13315950" y="5962650"/>
            <a:ext cx="3848100" cy="1923008"/>
          </a:xfrm>
          <a:prstGeom prst="roundRect">
            <a:avLst>
              <a:gd name="adj" fmla="val 5944"/>
            </a:avLst>
          </a:prstGeom>
          <a:ln w="9525">
            <a:solidFill>
              <a:srgbClr val="E0D2B8"/>
            </a:solidFill>
            <a:prstDash val="solid"/>
          </a:ln>
          <a:effectLst>
            <a:outerShdw sx="100000" sy="100000" kx="0" ky="0" algn="bl" rotWithShape="0" blurRad="228600" dist="95250" dir="5400000">
              <a:srgbClr val="8B4513">
                <a:alpha val="15000"/>
              </a:srgbClr>
            </a:outerShdw>
          </a:effectLst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15950" y="5962650"/>
            <a:ext cx="3848100" cy="192300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13124498" y="7980908"/>
            <a:ext cx="421195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vendeur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762000"/>
            <a:ext cx="171831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B7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Analyse des besoins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333500" y="1171575"/>
            <a:ext cx="171831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Diagramme de cas d'utilisation</a:t>
            </a:r>
            <a:endParaRPr lang="en-US" sz="4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00" y="2171700"/>
            <a:ext cx="1562100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857250"/>
            <a:ext cx="171831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B7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333500" y="1266825"/>
            <a:ext cx="171831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Choix technologiques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333500" y="2343150"/>
            <a:ext cx="5016401" cy="7086600"/>
          </a:xfrm>
          <a:prstGeom prst="roundRect">
            <a:avLst>
              <a:gd name="adj" fmla="val 3798"/>
            </a:avLst>
          </a:prstGeom>
          <a:solidFill>
            <a:srgbClr val="FFFFFF"/>
          </a:solidFill>
          <a:ln w="9525">
            <a:solidFill>
              <a:srgbClr val="E0D2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24025" y="2733675"/>
            <a:ext cx="685800" cy="6858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1685925" y="2733675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724025" y="3609975"/>
            <a:ext cx="465888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24025" y="4143375"/>
            <a:ext cx="465888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</a:t>
            </a:r>
            <a:pPr algn="l" indent="0" marL="0"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SPA par composants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724025" y="4572000"/>
            <a:ext cx="465888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 </a:t>
            </a:r>
            <a:pPr algn="l" indent="0" marL="0"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navigation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724025" y="5000625"/>
            <a:ext cx="465888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Query </a:t>
            </a:r>
            <a:pPr algn="l" indent="0" marL="0"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données serveur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724025" y="5429250"/>
            <a:ext cx="465888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</a:t>
            </a:r>
            <a:pPr algn="l" indent="0" marL="0"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design system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6635651" y="2343150"/>
            <a:ext cx="5016550" cy="708660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9525">
            <a:solidFill>
              <a:srgbClr val="E0D2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26176" y="2733675"/>
            <a:ext cx="685800" cy="685800"/>
          </a:xfrm>
          <a:prstGeom prst="roundRect">
            <a:avLst>
              <a:gd name="adj" fmla="val 25000"/>
            </a:avLst>
          </a:prstGeom>
          <a:solidFill>
            <a:srgbClr val="E5EBD5"/>
          </a:solidFill>
          <a:ln/>
        </p:spPr>
      </p:sp>
      <p:sp>
        <p:nvSpPr>
          <p:cNvPr id="14" name="Text 12"/>
          <p:cNvSpPr/>
          <p:nvPr/>
        </p:nvSpPr>
        <p:spPr>
          <a:xfrm>
            <a:off x="6988076" y="2733675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7026176" y="3609975"/>
            <a:ext cx="46590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026176" y="4143375"/>
            <a:ext cx="46590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8.1 </a:t>
            </a:r>
            <a:pPr algn="l" indent="0" marL="0"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API REST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7026176" y="4572000"/>
            <a:ext cx="46590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Routage MVC </a:t>
            </a:r>
            <a:pPr algn="l" indent="0" marL="0"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contrôleurs / modèles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7026176" y="5000625"/>
            <a:ext cx="46590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PDO </a:t>
            </a:r>
            <a:pPr algn="l" indent="0" marL="0"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requêtes préparées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7026176" y="5429250"/>
            <a:ext cx="46590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 + hachage bcrypt </a:t>
            </a:r>
            <a:pPr algn="l" indent="0" marL="0"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auth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1937950" y="2343150"/>
            <a:ext cx="5016550" cy="708660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9525">
            <a:solidFill>
              <a:srgbClr val="E0D2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328475" y="2733675"/>
            <a:ext cx="685800" cy="685800"/>
          </a:xfrm>
          <a:prstGeom prst="roundRect">
            <a:avLst>
              <a:gd name="adj" fmla="val 25000"/>
            </a:avLst>
          </a:prstGeom>
          <a:solidFill>
            <a:srgbClr val="FAE8D8"/>
          </a:solidFill>
          <a:ln/>
        </p:spPr>
      </p:sp>
      <p:sp>
        <p:nvSpPr>
          <p:cNvPr id="22" name="Text 20"/>
          <p:cNvSpPr/>
          <p:nvPr/>
        </p:nvSpPr>
        <p:spPr>
          <a:xfrm>
            <a:off x="12290375" y="2733675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2328475" y="3609975"/>
            <a:ext cx="46590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de données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2328475" y="4143375"/>
            <a:ext cx="46590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</a:t>
            </a:r>
            <a:pPr algn="l" indent="0" marL="0"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SGBD relationnel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12328475" y="4572000"/>
            <a:ext cx="46590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Schéma normalisé (3FN)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2328475" y="5000625"/>
            <a:ext cx="46590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Contraintes d'intégrité référentielle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12328475" y="5429250"/>
            <a:ext cx="46590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sur recherches fréquentes</a:t>
            </a:r>
            <a:endParaRPr lang="en-US" sz="18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857250"/>
            <a:ext cx="171831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B7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333500" y="1266825"/>
            <a:ext cx="171831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Justification des choix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333500" y="2343150"/>
            <a:ext cx="7677150" cy="3409950"/>
          </a:xfrm>
          <a:prstGeom prst="roundRect">
            <a:avLst>
              <a:gd name="adj" fmla="val 5587"/>
            </a:avLst>
          </a:prstGeom>
          <a:solidFill>
            <a:srgbClr val="FFFFFF"/>
          </a:solidFill>
          <a:ln w="9525">
            <a:solidFill>
              <a:srgbClr val="E0D2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04975" y="2714625"/>
            <a:ext cx="52089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⚛️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2378273" y="2714625"/>
            <a:ext cx="688699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plutôt qu'un rendu serveur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2378273" y="3143250"/>
            <a:ext cx="6448729" cy="114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21"/>
              </a:lnSpc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riche (panier temps réel, filtres instantanés, onglets) sans rechargement de page ; écosystème mature et composants réutilisables entre pages.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277350" y="2343150"/>
            <a:ext cx="7677150" cy="3409950"/>
          </a:xfrm>
          <a:prstGeom prst="roundRect">
            <a:avLst>
              <a:gd name="adj" fmla="val 5587"/>
            </a:avLst>
          </a:prstGeom>
          <a:solidFill>
            <a:srgbClr val="FFFFFF"/>
          </a:solidFill>
          <a:ln w="9525">
            <a:solidFill>
              <a:srgbClr val="E0D2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48825" y="2714625"/>
            <a:ext cx="52089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🐘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0322123" y="2714625"/>
            <a:ext cx="688699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PHP pour l'API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10322123" y="3143250"/>
            <a:ext cx="6448729" cy="114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21"/>
              </a:lnSpc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Hébergement simple et économique, large documentation, PDO + requêtes préparées contre les injections SQL ; adapté à la taille du projet.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333500" y="6019800"/>
            <a:ext cx="7677150" cy="3409950"/>
          </a:xfrm>
          <a:prstGeom prst="roundRect">
            <a:avLst>
              <a:gd name="adj" fmla="val 5587"/>
            </a:avLst>
          </a:prstGeom>
          <a:solidFill>
            <a:srgbClr val="FFFFFF"/>
          </a:solidFill>
          <a:ln w="9525">
            <a:solidFill>
              <a:srgbClr val="E0D2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04975" y="6391275"/>
            <a:ext cx="35525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2212628" y="6391275"/>
            <a:ext cx="706920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MySQL plutôt que NoSQL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2212628" y="6819900"/>
            <a:ext cx="6619344" cy="114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21"/>
              </a:lnSpc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fortement relationnelles (commandes ↔ produits ↔ boutiques ↔ utilisateurs) : transactions ACID indispensables pour les commandes et les stocks.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9277350" y="6019800"/>
            <a:ext cx="7677150" cy="3409950"/>
          </a:xfrm>
          <a:prstGeom prst="roundRect">
            <a:avLst>
              <a:gd name="adj" fmla="val 5587"/>
            </a:avLst>
          </a:prstGeom>
          <a:solidFill>
            <a:srgbClr val="FFFFFF"/>
          </a:solidFill>
          <a:ln w="9525">
            <a:solidFill>
              <a:srgbClr val="E0D2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48825" y="6391275"/>
            <a:ext cx="52089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0322123" y="6391275"/>
            <a:ext cx="688699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Tailwind CSS</a:t>
            </a:r>
            <a:endParaRPr lang="en-US" sz="2175" dirty="0"/>
          </a:p>
        </p:txBody>
      </p:sp>
      <p:sp>
        <p:nvSpPr>
          <p:cNvPr id="19" name="Text 17"/>
          <p:cNvSpPr/>
          <p:nvPr/>
        </p:nvSpPr>
        <p:spPr>
          <a:xfrm>
            <a:off x="10322123" y="6819900"/>
            <a:ext cx="6448729" cy="114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21"/>
              </a:lnSpc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 cohérent (palette artisanale, typographies) directement dans les composants ; responsive rapide à mettre en œuvre.</a:t>
            </a:r>
            <a:endParaRPr lang="en-US" sz="18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762000"/>
            <a:ext cx="171831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B7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333500" y="1171575"/>
            <a:ext cx="171831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technique — schéma global</a:t>
            </a:r>
            <a:endParaRPr lang="en-US" sz="4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00" y="2209800"/>
            <a:ext cx="156210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762000"/>
            <a:ext cx="171831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B7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333500" y="1171575"/>
            <a:ext cx="171831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Diagramme de séquence — passer commande</a:t>
            </a:r>
            <a:endParaRPr lang="en-US" sz="4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00" y="2171700"/>
            <a:ext cx="1562100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762000"/>
            <a:ext cx="171831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B7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Conception des données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333500" y="1171575"/>
            <a:ext cx="171831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conceptuel de données (MCD)</a:t>
            </a:r>
            <a:endParaRPr lang="en-US" sz="4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00" y="2171700"/>
            <a:ext cx="1562100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762000"/>
            <a:ext cx="171831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B7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Conception des données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333500" y="1171575"/>
            <a:ext cx="171831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physique de données (MPD)</a:t>
            </a:r>
            <a:endParaRPr lang="en-US" sz="4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00" y="2171700"/>
            <a:ext cx="15621000" cy="7353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762000"/>
            <a:ext cx="171831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B7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Processus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333500" y="1171575"/>
            <a:ext cx="171831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Processus métier — cycle d'une commande</a:t>
            </a:r>
            <a:endParaRPr lang="en-US" sz="4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00" y="2247900"/>
            <a:ext cx="15621000" cy="7277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857250"/>
            <a:ext cx="171831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B7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333500" y="1266825"/>
            <a:ext cx="171831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de test et validation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333500" y="2343150"/>
            <a:ext cx="5016401" cy="7086600"/>
          </a:xfrm>
          <a:prstGeom prst="roundRect">
            <a:avLst>
              <a:gd name="adj" fmla="val 3798"/>
            </a:avLst>
          </a:prstGeom>
          <a:solidFill>
            <a:srgbClr val="FFFFFF"/>
          </a:solidFill>
          <a:ln w="9525">
            <a:solidFill>
              <a:srgbClr val="E0D2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24025" y="2733675"/>
            <a:ext cx="685800" cy="685800"/>
          </a:xfrm>
          <a:prstGeom prst="roundRect">
            <a:avLst>
              <a:gd name="adj" fmla="val 25000"/>
            </a:avLst>
          </a:prstGeom>
          <a:solidFill>
            <a:srgbClr val="E5EBD5"/>
          </a:solidFill>
          <a:ln/>
        </p:spPr>
      </p:sp>
      <p:sp>
        <p:nvSpPr>
          <p:cNvPr id="6" name="Text 4"/>
          <p:cNvSpPr/>
          <p:nvPr/>
        </p:nvSpPr>
        <p:spPr>
          <a:xfrm>
            <a:off x="1685925" y="2733675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724025" y="3629025"/>
            <a:ext cx="465888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Tests unitaires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724025" y="4152900"/>
            <a:ext cx="436241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Fonctions métier : calcul totaux, livraison, stocks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24025" y="4876800"/>
            <a:ext cx="436241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Endpoints API : codes HTTP, formats JSON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24025" y="5600700"/>
            <a:ext cx="436241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Validation des entrées (email, prix, quantités)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635651" y="2343150"/>
            <a:ext cx="5016550" cy="708660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9525">
            <a:solidFill>
              <a:srgbClr val="E0D2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26176" y="2733675"/>
            <a:ext cx="685800" cy="6858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/>
        </p:spPr>
      </p:sp>
      <p:sp>
        <p:nvSpPr>
          <p:cNvPr id="13" name="Text 11"/>
          <p:cNvSpPr/>
          <p:nvPr/>
        </p:nvSpPr>
        <p:spPr>
          <a:xfrm>
            <a:off x="6988076" y="2733675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7026176" y="3629025"/>
            <a:ext cx="46590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Tests fonctionnels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026176" y="4152900"/>
            <a:ext cx="436256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Parcours complet : recherche → panier → commande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26176" y="4876800"/>
            <a:ext cx="4659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Inscription / connexion des deux rôles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026176" y="5295900"/>
            <a:ext cx="436256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Cas limites : stock épuisé, panier vide, doublons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937950" y="2343150"/>
            <a:ext cx="5016550" cy="708660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9525">
            <a:solidFill>
              <a:srgbClr val="E0D2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328475" y="2733675"/>
            <a:ext cx="685800" cy="685800"/>
          </a:xfrm>
          <a:prstGeom prst="roundRect">
            <a:avLst>
              <a:gd name="adj" fmla="val 25000"/>
            </a:avLst>
          </a:prstGeom>
          <a:solidFill>
            <a:srgbClr val="FAE8D8"/>
          </a:solidFill>
          <a:ln/>
        </p:spPr>
      </p:sp>
      <p:sp>
        <p:nvSpPr>
          <p:cNvPr id="20" name="Text 18"/>
          <p:cNvSpPr/>
          <p:nvPr/>
        </p:nvSpPr>
        <p:spPr>
          <a:xfrm>
            <a:off x="12290375" y="2733675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2328475" y="3629025"/>
            <a:ext cx="46590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Tests d'interface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2328475" y="4152900"/>
            <a:ext cx="4659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Responsive : desktop, tablette, mobile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28475" y="4572000"/>
            <a:ext cx="436256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Compatibilité navigateurs (Chrome, Firefox, Safari)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328475" y="5295900"/>
            <a:ext cx="4659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États visuels : chargement, vide, erreur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8B4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06483" y="959495"/>
            <a:ext cx="35123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69382" y="1711970"/>
            <a:ext cx="1160415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 de l'application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4602063" y="2959745"/>
            <a:ext cx="3148013" cy="1685925"/>
          </a:xfrm>
          <a:prstGeom prst="roundRect">
            <a:avLst>
              <a:gd name="adj" fmla="val 904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32330" y="3216920"/>
            <a:ext cx="268747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🛍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832330" y="3769370"/>
            <a:ext cx="268747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Parcours acheteur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4832330" y="4083695"/>
            <a:ext cx="268747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→ commande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016776" y="2959745"/>
            <a:ext cx="3084909" cy="1685925"/>
          </a:xfrm>
          <a:prstGeom prst="roundRect">
            <a:avLst>
              <a:gd name="adj" fmla="val 904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50198" y="3216920"/>
            <a:ext cx="261806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🏺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8250198" y="3769370"/>
            <a:ext cx="26180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Espace vendeur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8250198" y="4083695"/>
            <a:ext cx="26180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produits &amp; commandes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368385" y="2959745"/>
            <a:ext cx="2317552" cy="1685925"/>
          </a:xfrm>
          <a:prstGeom prst="roundRect">
            <a:avLst>
              <a:gd name="adj" fmla="val 904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40175" y="3216920"/>
            <a:ext cx="177397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1640175" y="3769370"/>
            <a:ext cx="177397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mobile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1640175" y="4083695"/>
            <a:ext cx="17739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857750" y="5064770"/>
            <a:ext cx="8572500" cy="4262586"/>
          </a:xfrm>
          <a:prstGeom prst="roundRect">
            <a:avLst>
              <a:gd name="adj" fmla="val 3575"/>
            </a:avLst>
          </a:prstGeom>
          <a:ln/>
          <a:effectLst>
            <a:outerShdw sx="100000" sy="100000" kx="0" ky="0" algn="bl" rotWithShape="0" blurRad="571500" dist="28575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7750" y="5064770"/>
            <a:ext cx="8572500" cy="426258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857250"/>
            <a:ext cx="171831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B7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333500" y="1266825"/>
            <a:ext cx="171831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et perspectives d'évolution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333500" y="2343150"/>
            <a:ext cx="7639050" cy="628650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E0D2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62125" y="2771775"/>
            <a:ext cx="745998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Bilan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62125" y="3429000"/>
            <a:ext cx="698525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Marketplace fonctionnelle de bout en bout : catalogue, panier, commande, espace vendeur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762125" y="4210050"/>
            <a:ext cx="74599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Architecture découplée réutilisable (web &amp; mobile)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762125" y="4676775"/>
            <a:ext cx="74599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Modèle de données robuste avec intégrité transactionnelle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762125" y="5143500"/>
            <a:ext cx="698525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Méthodologie complète : besoins → maquettes → conception → tests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315450" y="2343150"/>
            <a:ext cx="7639050" cy="628650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E0D2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44075" y="2771775"/>
            <a:ext cx="745998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🚀 Perspectives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744075" y="3429000"/>
            <a:ext cx="74599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Paiement en ligne (Stripe / PayPal)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9744075" y="3895725"/>
            <a:ext cx="74599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Messagerie acheteur ↔ artisan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9744075" y="4362450"/>
            <a:ext cx="74599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Notifications e-mail (commande, expédition)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9744075" y="4829175"/>
            <a:ext cx="74599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Application mobile native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9744075" y="5295900"/>
            <a:ext cx="74599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Internationalisation et multi-devises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552450" y="9048750"/>
            <a:ext cx="171831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8B4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de votre attention — place aux questions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2026-07-14T13:43:59Z</dcterms:created>
  <dcterms:modified xsi:type="dcterms:W3CDTF">2026-07-14T13:43:59Z</dcterms:modified>
</cp:coreProperties>
</file>